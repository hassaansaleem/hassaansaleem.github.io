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Shape 17"/>
          <p:cNvSpPr/>
          <p:nvPr/>
        </p:nvSpPr>
        <p:spPr>
          <a:xfrm>
            <a:off x="640080" y="530352"/>
            <a:ext cx="502920" cy="68580"/>
          </a:xfrm>
          <a:prstGeom prst="roundRect">
            <a:avLst>
              <a:gd name="adj" fmla="val 53333"/>
            </a:avLst>
          </a:prstGeom>
          <a:solidFill>
            <a:srgbClr val="F5A623"/>
          </a:solidFill>
          <a:ln/>
        </p:spPr>
      </p:sp>
      <p:sp>
        <p:nvSpPr>
          <p:cNvPr id="20" name="Shape 18"/>
          <p:cNvSpPr/>
          <p:nvPr/>
        </p:nvSpPr>
        <p:spPr>
          <a:xfrm>
            <a:off x="1298448" y="530352"/>
            <a:ext cx="384048" cy="68580"/>
          </a:xfrm>
          <a:prstGeom prst="roundRect">
            <a:avLst>
              <a:gd name="adj" fmla="val 53333"/>
            </a:avLst>
          </a:prstGeom>
          <a:solidFill>
            <a:srgbClr val="2DD4BF"/>
          </a:solidFill>
          <a:ln/>
        </p:spPr>
      </p:sp>
      <p:sp>
        <p:nvSpPr>
          <p:cNvPr id="21" name="Shape 19"/>
          <p:cNvSpPr/>
          <p:nvPr/>
        </p:nvSpPr>
        <p:spPr>
          <a:xfrm>
            <a:off x="1792224" y="530352"/>
            <a:ext cx="502920" cy="68580"/>
          </a:xfrm>
          <a:prstGeom prst="roundRect">
            <a:avLst>
              <a:gd name="adj" fmla="val 53333"/>
            </a:avLst>
          </a:prstGeom>
          <a:solidFill>
            <a:srgbClr val="A78BFA"/>
          </a:solidFill>
          <a:ln/>
        </p:spPr>
      </p:sp>
      <p:sp>
        <p:nvSpPr>
          <p:cNvPr id="22" name="Shape 20"/>
          <p:cNvSpPr/>
          <p:nvPr/>
        </p:nvSpPr>
        <p:spPr>
          <a:xfrm>
            <a:off x="2450592" y="530352"/>
            <a:ext cx="384048" cy="68580"/>
          </a:xfrm>
          <a:prstGeom prst="roundRect">
            <a:avLst>
              <a:gd name="adj" fmla="val 53333"/>
            </a:avLst>
          </a:prstGeom>
          <a:solidFill>
            <a:srgbClr val="4ADE80"/>
          </a:solidFill>
          <a:ln/>
        </p:spPr>
      </p:sp>
      <p:sp>
        <p:nvSpPr>
          <p:cNvPr id="23" name="Text 21"/>
          <p:cNvSpPr/>
          <p:nvPr/>
        </p:nvSpPr>
        <p:spPr>
          <a:xfrm>
            <a:off x="640080" y="749808"/>
            <a:ext cx="10058400" cy="274320"/>
          </a:xfrm>
          <a:prstGeom prst="rect">
            <a:avLst/>
          </a:prstGeom>
          <a:noFill/>
          <a:ln/>
        </p:spPr>
        <p:txBody>
          <a:bodyPr wrap="square" lIns="0" tIns="0" rIns="0" bIns="0" rtlCol="0" anchor="ctr"/>
          <a:lstStyle/>
          <a:p>
            <a:pPr indent="0" marL="0">
              <a:buNone/>
            </a:pPr>
            <a:r>
              <a:rPr lang="en-US" sz="1150" b="1" spc="300" kern="0" dirty="0">
                <a:solidFill>
                  <a:srgbClr val="59616F"/>
                </a:solidFill>
                <a:latin typeface="Courier New" pitchFamily="34" charset="0"/>
                <a:ea typeface="Courier New" pitchFamily="34" charset="-122"/>
                <a:cs typeface="Courier New" pitchFamily="34" charset="-120"/>
              </a:rPr>
              <a:t>FIELD NOTES  ·  HASSAAN  ·  DISRUPT  ·  AUGUST 2026</a:t>
            </a:r>
            <a:endParaRPr lang="en-US" sz="1150" dirty="0"/>
          </a:p>
        </p:txBody>
      </p:sp>
      <p:sp>
        <p:nvSpPr>
          <p:cNvPr id="24" name="Text 22"/>
          <p:cNvSpPr/>
          <p:nvPr/>
        </p:nvSpPr>
        <p:spPr>
          <a:xfrm>
            <a:off x="640080" y="1234440"/>
            <a:ext cx="10607040" cy="822960"/>
          </a:xfrm>
          <a:prstGeom prst="rect">
            <a:avLst/>
          </a:prstGeom>
          <a:noFill/>
          <a:ln/>
        </p:spPr>
        <p:txBody>
          <a:bodyPr wrap="square" lIns="0" tIns="0" rIns="0" bIns="0" rtlCol="0" anchor="ctr"/>
          <a:lstStyle/>
          <a:p>
            <a:pPr algn="l" indent="0" marL="0">
              <a:buNone/>
            </a:pPr>
            <a:r>
              <a:rPr lang="en-US" sz="5200" b="1" dirty="0">
                <a:solidFill>
                  <a:srgbClr val="F4F6F8"/>
                </a:solidFill>
                <a:latin typeface="Arial" pitchFamily="34" charset="0"/>
                <a:ea typeface="Arial" pitchFamily="34" charset="-122"/>
                <a:cs typeface="Arial" pitchFamily="34" charset="-120"/>
              </a:rPr>
              <a:t>Workflows &amp; Orchestrators</a:t>
            </a:r>
            <a:endParaRPr lang="en-US" sz="5200" dirty="0"/>
          </a:p>
        </p:txBody>
      </p:sp>
      <p:sp>
        <p:nvSpPr>
          <p:cNvPr id="25" name="Text 23"/>
          <p:cNvSpPr/>
          <p:nvPr/>
        </p:nvSpPr>
        <p:spPr>
          <a:xfrm>
            <a:off x="640080" y="2084832"/>
            <a:ext cx="10789920" cy="777240"/>
          </a:xfrm>
          <a:prstGeom prst="rect">
            <a:avLst/>
          </a:prstGeom>
          <a:noFill/>
          <a:ln/>
        </p:spPr>
        <p:txBody>
          <a:bodyPr wrap="square" lIns="0" tIns="0" rIns="0" bIns="0" rtlCol="0" anchor="ctr"/>
          <a:lstStyle/>
          <a:p>
            <a:pPr algn="l" indent="0" marL="0">
              <a:buNone/>
            </a:pPr>
            <a:r>
              <a:rPr lang="en-US" sz="4600" b="1" dirty="0">
                <a:solidFill>
                  <a:srgbClr val="F4F6F8"/>
                </a:solidFill>
                <a:latin typeface="Arial" pitchFamily="34" charset="0"/>
                <a:ea typeface="Arial" pitchFamily="34" charset="-122"/>
                <a:cs typeface="Arial" pitchFamily="34" charset="-120"/>
              </a:rPr>
              <a:t>in an AI world:  </a:t>
            </a:r>
            <a:pPr algn="l" indent="0" marL="0">
              <a:buNone/>
            </a:pPr>
            <a:r>
              <a:rPr lang="en-US" sz="4600" b="1" dirty="0">
                <a:solidFill>
                  <a:srgbClr val="F5A623"/>
                </a:solidFill>
                <a:latin typeface="Arial" pitchFamily="34" charset="0"/>
                <a:ea typeface="Arial" pitchFamily="34" charset="-122"/>
                <a:cs typeface="Arial" pitchFamily="34" charset="-120"/>
              </a:rPr>
              <a:t>Business</a:t>
            </a:r>
            <a:pPr algn="l" indent="0" marL="0">
              <a:buNone/>
            </a:pPr>
            <a:r>
              <a:rPr lang="en-US" sz="4600" b="1" dirty="0">
                <a:solidFill>
                  <a:srgbClr val="6B7382"/>
                </a:solidFill>
                <a:latin typeface="Arial" pitchFamily="34" charset="0"/>
                <a:ea typeface="Arial" pitchFamily="34" charset="-122"/>
                <a:cs typeface="Arial" pitchFamily="34" charset="-120"/>
              </a:rPr>
              <a:t> vs </a:t>
            </a:r>
            <a:pPr algn="l" indent="0" marL="0">
              <a:buNone/>
            </a:pPr>
            <a:r>
              <a:rPr lang="en-US" sz="4600" b="1" dirty="0">
                <a:solidFill>
                  <a:srgbClr val="2DD4BF"/>
                </a:solidFill>
                <a:latin typeface="Arial" pitchFamily="34" charset="0"/>
                <a:ea typeface="Arial" pitchFamily="34" charset="-122"/>
                <a:cs typeface="Arial" pitchFamily="34" charset="-120"/>
              </a:rPr>
              <a:t>Data</a:t>
            </a:r>
            <a:pPr algn="l" indent="0" marL="0">
              <a:buNone/>
            </a:pPr>
            <a:r>
              <a:rPr lang="en-US" sz="4600" b="1" dirty="0">
                <a:solidFill>
                  <a:srgbClr val="6B7382"/>
                </a:solidFill>
                <a:latin typeface="Arial" pitchFamily="34" charset="0"/>
                <a:ea typeface="Arial" pitchFamily="34" charset="-122"/>
                <a:cs typeface="Arial" pitchFamily="34" charset="-120"/>
              </a:rPr>
              <a:t> vs </a:t>
            </a:r>
            <a:pPr algn="l" indent="0" marL="0">
              <a:buNone/>
            </a:pPr>
            <a:r>
              <a:rPr lang="en-US" sz="4600" b="1" dirty="0">
                <a:solidFill>
                  <a:srgbClr val="4ADE80"/>
                </a:solidFill>
                <a:latin typeface="Arial" pitchFamily="34" charset="0"/>
                <a:ea typeface="Arial" pitchFamily="34" charset="-122"/>
                <a:cs typeface="Arial" pitchFamily="34" charset="-120"/>
              </a:rPr>
              <a:t>AI</a:t>
            </a:r>
            <a:endParaRPr lang="en-US" sz="4600" dirty="0"/>
          </a:p>
        </p:txBody>
      </p:sp>
      <p:sp>
        <p:nvSpPr>
          <p:cNvPr id="26" name="Shape 24"/>
          <p:cNvSpPr/>
          <p:nvPr/>
        </p:nvSpPr>
        <p:spPr>
          <a:xfrm>
            <a:off x="2103120" y="3634740"/>
            <a:ext cx="0" cy="1051560"/>
          </a:xfrm>
          <a:prstGeom prst="line">
            <a:avLst/>
          </a:prstGeom>
          <a:noFill/>
          <a:ln w="25400">
            <a:solidFill>
              <a:srgbClr val="F5A623"/>
            </a:solidFill>
            <a:prstDash val="solid"/>
          </a:ln>
        </p:spPr>
      </p:sp>
      <p:sp>
        <p:nvSpPr>
          <p:cNvPr id="27" name="Shape 25"/>
          <p:cNvSpPr/>
          <p:nvPr/>
        </p:nvSpPr>
        <p:spPr>
          <a:xfrm>
            <a:off x="2018538" y="3550158"/>
            <a:ext cx="169164" cy="169164"/>
          </a:xfrm>
          <a:prstGeom prst="ellipse">
            <a:avLst/>
          </a:prstGeom>
          <a:solidFill>
            <a:srgbClr val="0A0C10"/>
          </a:solidFill>
          <a:ln w="31750">
            <a:solidFill>
              <a:srgbClr val="F5A623"/>
            </a:solidFill>
            <a:prstDash val="solid"/>
          </a:ln>
        </p:spPr>
      </p:sp>
      <p:sp>
        <p:nvSpPr>
          <p:cNvPr id="28" name="Shape 26"/>
          <p:cNvSpPr/>
          <p:nvPr/>
        </p:nvSpPr>
        <p:spPr>
          <a:xfrm>
            <a:off x="2018538" y="3900678"/>
            <a:ext cx="169164" cy="169164"/>
          </a:xfrm>
          <a:prstGeom prst="ellipse">
            <a:avLst/>
          </a:prstGeom>
          <a:solidFill>
            <a:srgbClr val="0A0C10"/>
          </a:solidFill>
          <a:ln w="31750">
            <a:solidFill>
              <a:srgbClr val="F5A623"/>
            </a:solidFill>
            <a:prstDash val="solid"/>
          </a:ln>
        </p:spPr>
      </p:sp>
      <p:sp>
        <p:nvSpPr>
          <p:cNvPr id="29" name="Shape 27"/>
          <p:cNvSpPr/>
          <p:nvPr/>
        </p:nvSpPr>
        <p:spPr>
          <a:xfrm>
            <a:off x="2018538" y="4251198"/>
            <a:ext cx="169164" cy="169164"/>
          </a:xfrm>
          <a:prstGeom prst="ellipse">
            <a:avLst/>
          </a:prstGeom>
          <a:solidFill>
            <a:srgbClr val="0A0C10"/>
          </a:solidFill>
          <a:ln w="31750">
            <a:solidFill>
              <a:srgbClr val="F5A623"/>
            </a:solidFill>
            <a:prstDash val="solid"/>
          </a:ln>
        </p:spPr>
      </p:sp>
      <p:sp>
        <p:nvSpPr>
          <p:cNvPr id="30" name="Shape 28"/>
          <p:cNvSpPr/>
          <p:nvPr/>
        </p:nvSpPr>
        <p:spPr>
          <a:xfrm>
            <a:off x="2018538" y="4601718"/>
            <a:ext cx="169164" cy="169164"/>
          </a:xfrm>
          <a:prstGeom prst="ellipse">
            <a:avLst/>
          </a:prstGeom>
          <a:solidFill>
            <a:srgbClr val="F5A623"/>
          </a:solidFill>
          <a:ln w="31750">
            <a:solidFill>
              <a:srgbClr val="F5A623"/>
            </a:solidFill>
            <a:prstDash val="solid"/>
          </a:ln>
        </p:spPr>
      </p:sp>
      <p:sp>
        <p:nvSpPr>
          <p:cNvPr id="31" name="Text 29"/>
          <p:cNvSpPr/>
          <p:nvPr/>
        </p:nvSpPr>
        <p:spPr>
          <a:xfrm>
            <a:off x="914400" y="4873752"/>
            <a:ext cx="2377440" cy="274320"/>
          </a:xfrm>
          <a:prstGeom prst="rect">
            <a:avLst/>
          </a:prstGeom>
          <a:noFill/>
          <a:ln/>
        </p:spPr>
        <p:txBody>
          <a:bodyPr wrap="square" lIns="0" tIns="0" rIns="0" bIns="0" rtlCol="0" anchor="ctr"/>
          <a:lstStyle/>
          <a:p>
            <a:pPr algn="ctr" indent="0" marL="0">
              <a:buNone/>
            </a:pPr>
            <a:r>
              <a:rPr lang="en-US" sz="1250" b="1" spc="250" kern="0" dirty="0">
                <a:solidFill>
                  <a:srgbClr val="F5A623"/>
                </a:solidFill>
                <a:latin typeface="Courier New" pitchFamily="34" charset="0"/>
                <a:ea typeface="Courier New" pitchFamily="34" charset="-122"/>
                <a:cs typeface="Courier New" pitchFamily="34" charset="-120"/>
              </a:rPr>
              <a:t>BUSINESS</a:t>
            </a:r>
            <a:endParaRPr lang="en-US" sz="1250" dirty="0"/>
          </a:p>
        </p:txBody>
      </p:sp>
      <p:sp>
        <p:nvSpPr>
          <p:cNvPr id="32" name="Text 30"/>
          <p:cNvSpPr/>
          <p:nvPr/>
        </p:nvSpPr>
        <p:spPr>
          <a:xfrm>
            <a:off x="914400" y="5148072"/>
            <a:ext cx="2377440" cy="274320"/>
          </a:xfrm>
          <a:prstGeom prst="rect">
            <a:avLst/>
          </a:prstGeom>
          <a:noFill/>
          <a:ln/>
        </p:spPr>
        <p:txBody>
          <a:bodyPr wrap="square" lIns="0" tIns="0" rIns="0" bIns="0" rtlCol="0" anchor="ctr"/>
          <a:lstStyle/>
          <a:p>
            <a:pPr algn="ctr" indent="0" marL="0">
              <a:buNone/>
            </a:pPr>
            <a:r>
              <a:rPr lang="en-US" sz="1300" dirty="0">
                <a:solidFill>
                  <a:srgbClr val="6B7382"/>
                </a:solidFill>
                <a:latin typeface="Arial" pitchFamily="34" charset="0"/>
                <a:ea typeface="Arial" pitchFamily="34" charset="-122"/>
                <a:cs typeface="Arial" pitchFamily="34" charset="-120"/>
              </a:rPr>
              <a:t>Camunda</a:t>
            </a:r>
            <a:endParaRPr lang="en-US" sz="1300" dirty="0"/>
          </a:p>
        </p:txBody>
      </p:sp>
      <p:sp>
        <p:nvSpPr>
          <p:cNvPr id="33" name="Shape 31"/>
          <p:cNvSpPr/>
          <p:nvPr/>
        </p:nvSpPr>
        <p:spPr>
          <a:xfrm>
            <a:off x="4892040" y="3634740"/>
            <a:ext cx="0" cy="1051560"/>
          </a:xfrm>
          <a:prstGeom prst="line">
            <a:avLst/>
          </a:prstGeom>
          <a:noFill/>
          <a:ln w="25400">
            <a:solidFill>
              <a:srgbClr val="2DD4BF"/>
            </a:solidFill>
            <a:prstDash val="solid"/>
          </a:ln>
        </p:spPr>
      </p:sp>
      <p:sp>
        <p:nvSpPr>
          <p:cNvPr id="34" name="Shape 32"/>
          <p:cNvSpPr/>
          <p:nvPr/>
        </p:nvSpPr>
        <p:spPr>
          <a:xfrm>
            <a:off x="4807458" y="3550158"/>
            <a:ext cx="169164" cy="169164"/>
          </a:xfrm>
          <a:prstGeom prst="ellipse">
            <a:avLst/>
          </a:prstGeom>
          <a:solidFill>
            <a:srgbClr val="0A0C10"/>
          </a:solidFill>
          <a:ln w="31750">
            <a:solidFill>
              <a:srgbClr val="2DD4BF"/>
            </a:solidFill>
            <a:prstDash val="solid"/>
          </a:ln>
        </p:spPr>
      </p:sp>
      <p:sp>
        <p:nvSpPr>
          <p:cNvPr id="35" name="Shape 33"/>
          <p:cNvSpPr/>
          <p:nvPr/>
        </p:nvSpPr>
        <p:spPr>
          <a:xfrm>
            <a:off x="4807458" y="3900678"/>
            <a:ext cx="169164" cy="169164"/>
          </a:xfrm>
          <a:prstGeom prst="ellipse">
            <a:avLst/>
          </a:prstGeom>
          <a:solidFill>
            <a:srgbClr val="0A0C10"/>
          </a:solidFill>
          <a:ln w="31750">
            <a:solidFill>
              <a:srgbClr val="2DD4BF"/>
            </a:solidFill>
            <a:prstDash val="solid"/>
          </a:ln>
        </p:spPr>
      </p:sp>
      <p:sp>
        <p:nvSpPr>
          <p:cNvPr id="36" name="Shape 34"/>
          <p:cNvSpPr/>
          <p:nvPr/>
        </p:nvSpPr>
        <p:spPr>
          <a:xfrm>
            <a:off x="4807458" y="4251198"/>
            <a:ext cx="169164" cy="169164"/>
          </a:xfrm>
          <a:prstGeom prst="ellipse">
            <a:avLst/>
          </a:prstGeom>
          <a:solidFill>
            <a:srgbClr val="0A0C10"/>
          </a:solidFill>
          <a:ln w="31750">
            <a:solidFill>
              <a:srgbClr val="2DD4BF"/>
            </a:solidFill>
            <a:prstDash val="solid"/>
          </a:ln>
        </p:spPr>
      </p:sp>
      <p:sp>
        <p:nvSpPr>
          <p:cNvPr id="37" name="Shape 35"/>
          <p:cNvSpPr/>
          <p:nvPr/>
        </p:nvSpPr>
        <p:spPr>
          <a:xfrm>
            <a:off x="4807458" y="4601718"/>
            <a:ext cx="169164" cy="169164"/>
          </a:xfrm>
          <a:prstGeom prst="ellipse">
            <a:avLst/>
          </a:prstGeom>
          <a:solidFill>
            <a:srgbClr val="0A0C10"/>
          </a:solidFill>
          <a:ln w="31750">
            <a:solidFill>
              <a:srgbClr val="2DD4BF"/>
            </a:solidFill>
            <a:prstDash val="solid"/>
          </a:ln>
        </p:spPr>
      </p:sp>
      <p:sp>
        <p:nvSpPr>
          <p:cNvPr id="38" name="Text 36"/>
          <p:cNvSpPr/>
          <p:nvPr/>
        </p:nvSpPr>
        <p:spPr>
          <a:xfrm>
            <a:off x="3703320" y="4873752"/>
            <a:ext cx="2377440" cy="274320"/>
          </a:xfrm>
          <a:prstGeom prst="rect">
            <a:avLst/>
          </a:prstGeom>
          <a:noFill/>
          <a:ln/>
        </p:spPr>
        <p:txBody>
          <a:bodyPr wrap="square" lIns="0" tIns="0" rIns="0" bIns="0" rtlCol="0" anchor="ctr"/>
          <a:lstStyle/>
          <a:p>
            <a:pPr algn="ctr" indent="0" marL="0">
              <a:buNone/>
            </a:pPr>
            <a:r>
              <a:rPr lang="en-US" sz="1250" b="1" spc="250" kern="0" dirty="0">
                <a:solidFill>
                  <a:srgbClr val="2DD4BF"/>
                </a:solidFill>
                <a:latin typeface="Courier New" pitchFamily="34" charset="0"/>
                <a:ea typeface="Courier New" pitchFamily="34" charset="-122"/>
                <a:cs typeface="Courier New" pitchFamily="34" charset="-120"/>
              </a:rPr>
              <a:t>DATA</a:t>
            </a:r>
            <a:endParaRPr lang="en-US" sz="1250" dirty="0"/>
          </a:p>
        </p:txBody>
      </p:sp>
      <p:sp>
        <p:nvSpPr>
          <p:cNvPr id="39" name="Text 37"/>
          <p:cNvSpPr/>
          <p:nvPr/>
        </p:nvSpPr>
        <p:spPr>
          <a:xfrm>
            <a:off x="3703320" y="5148072"/>
            <a:ext cx="2377440" cy="274320"/>
          </a:xfrm>
          <a:prstGeom prst="rect">
            <a:avLst/>
          </a:prstGeom>
          <a:noFill/>
          <a:ln/>
        </p:spPr>
        <p:txBody>
          <a:bodyPr wrap="square" lIns="0" tIns="0" rIns="0" bIns="0" rtlCol="0" anchor="ctr"/>
          <a:lstStyle/>
          <a:p>
            <a:pPr algn="ctr" indent="0" marL="0">
              <a:buNone/>
            </a:pPr>
            <a:r>
              <a:rPr lang="en-US" sz="1300" dirty="0">
                <a:solidFill>
                  <a:srgbClr val="6B7382"/>
                </a:solidFill>
                <a:latin typeface="Arial" pitchFamily="34" charset="0"/>
                <a:ea typeface="Arial" pitchFamily="34" charset="-122"/>
                <a:cs typeface="Arial" pitchFamily="34" charset="-120"/>
              </a:rPr>
              <a:t>Airflow</a:t>
            </a:r>
            <a:endParaRPr lang="en-US" sz="1300" dirty="0"/>
          </a:p>
        </p:txBody>
      </p:sp>
      <p:sp>
        <p:nvSpPr>
          <p:cNvPr id="40" name="Shape 38"/>
          <p:cNvSpPr/>
          <p:nvPr/>
        </p:nvSpPr>
        <p:spPr>
          <a:xfrm>
            <a:off x="7680960" y="3634740"/>
            <a:ext cx="0" cy="350520"/>
          </a:xfrm>
          <a:prstGeom prst="line">
            <a:avLst/>
          </a:prstGeom>
          <a:noFill/>
          <a:ln w="25400">
            <a:solidFill>
              <a:srgbClr val="A78BFA"/>
            </a:solidFill>
            <a:prstDash val="solid"/>
          </a:ln>
        </p:spPr>
      </p:sp>
      <p:sp>
        <p:nvSpPr>
          <p:cNvPr id="41" name="Shape 39"/>
          <p:cNvSpPr/>
          <p:nvPr/>
        </p:nvSpPr>
        <p:spPr>
          <a:xfrm flipV="1">
            <a:off x="7354976" y="3985260"/>
            <a:ext cx="325984" cy="262890"/>
          </a:xfrm>
          <a:prstGeom prst="line">
            <a:avLst/>
          </a:prstGeom>
          <a:noFill/>
          <a:ln w="25400">
            <a:solidFill>
              <a:srgbClr val="A78BFA"/>
            </a:solidFill>
            <a:prstDash val="solid"/>
          </a:ln>
        </p:spPr>
      </p:sp>
      <p:sp>
        <p:nvSpPr>
          <p:cNvPr id="42" name="Shape 40"/>
          <p:cNvSpPr/>
          <p:nvPr/>
        </p:nvSpPr>
        <p:spPr>
          <a:xfrm>
            <a:off x="7680960" y="3985260"/>
            <a:ext cx="325984" cy="262890"/>
          </a:xfrm>
          <a:prstGeom prst="line">
            <a:avLst/>
          </a:prstGeom>
          <a:noFill/>
          <a:ln w="25400">
            <a:solidFill>
              <a:srgbClr val="A78BFA"/>
            </a:solidFill>
            <a:prstDash val="solid"/>
          </a:ln>
        </p:spPr>
      </p:sp>
      <p:sp>
        <p:nvSpPr>
          <p:cNvPr id="43" name="Shape 41"/>
          <p:cNvSpPr/>
          <p:nvPr/>
        </p:nvSpPr>
        <p:spPr>
          <a:xfrm>
            <a:off x="7354976" y="4248150"/>
            <a:ext cx="325984" cy="438150"/>
          </a:xfrm>
          <a:prstGeom prst="line">
            <a:avLst/>
          </a:prstGeom>
          <a:noFill/>
          <a:ln w="25400">
            <a:solidFill>
              <a:srgbClr val="A78BFA"/>
            </a:solidFill>
            <a:prstDash val="solid"/>
          </a:ln>
        </p:spPr>
      </p:sp>
      <p:sp>
        <p:nvSpPr>
          <p:cNvPr id="44" name="Shape 42"/>
          <p:cNvSpPr/>
          <p:nvPr/>
        </p:nvSpPr>
        <p:spPr>
          <a:xfrm flipV="1">
            <a:off x="7680960" y="4248150"/>
            <a:ext cx="325984" cy="438150"/>
          </a:xfrm>
          <a:prstGeom prst="line">
            <a:avLst/>
          </a:prstGeom>
          <a:noFill/>
          <a:ln w="25400">
            <a:solidFill>
              <a:srgbClr val="A78BFA"/>
            </a:solidFill>
            <a:prstDash val="solid"/>
          </a:ln>
        </p:spPr>
      </p:sp>
      <p:sp>
        <p:nvSpPr>
          <p:cNvPr id="45" name="Shape 43"/>
          <p:cNvSpPr/>
          <p:nvPr/>
        </p:nvSpPr>
        <p:spPr>
          <a:xfrm>
            <a:off x="7596378" y="3550158"/>
            <a:ext cx="169164" cy="169164"/>
          </a:xfrm>
          <a:prstGeom prst="ellipse">
            <a:avLst/>
          </a:prstGeom>
          <a:solidFill>
            <a:srgbClr val="0A0C10"/>
          </a:solidFill>
          <a:ln w="31750">
            <a:solidFill>
              <a:srgbClr val="A78BFA"/>
            </a:solidFill>
            <a:prstDash val="solid"/>
          </a:ln>
        </p:spPr>
      </p:sp>
      <p:sp>
        <p:nvSpPr>
          <p:cNvPr id="46" name="Shape 44"/>
          <p:cNvSpPr/>
          <p:nvPr/>
        </p:nvSpPr>
        <p:spPr>
          <a:xfrm>
            <a:off x="7596378" y="3900678"/>
            <a:ext cx="169164" cy="169164"/>
          </a:xfrm>
          <a:prstGeom prst="ellipse">
            <a:avLst/>
          </a:prstGeom>
          <a:solidFill>
            <a:srgbClr val="0A0C10"/>
          </a:solidFill>
          <a:ln w="31750">
            <a:solidFill>
              <a:srgbClr val="A78BFA"/>
            </a:solidFill>
            <a:prstDash val="solid"/>
          </a:ln>
        </p:spPr>
      </p:sp>
      <p:sp>
        <p:nvSpPr>
          <p:cNvPr id="47" name="Shape 45"/>
          <p:cNvSpPr/>
          <p:nvPr/>
        </p:nvSpPr>
        <p:spPr>
          <a:xfrm>
            <a:off x="7270394" y="4163568"/>
            <a:ext cx="169164" cy="169164"/>
          </a:xfrm>
          <a:prstGeom prst="ellipse">
            <a:avLst/>
          </a:prstGeom>
          <a:solidFill>
            <a:srgbClr val="0A0C10"/>
          </a:solidFill>
          <a:ln w="31750">
            <a:solidFill>
              <a:srgbClr val="A78BFA"/>
            </a:solidFill>
            <a:prstDash val="solid"/>
          </a:ln>
        </p:spPr>
      </p:sp>
      <p:sp>
        <p:nvSpPr>
          <p:cNvPr id="48" name="Shape 46"/>
          <p:cNvSpPr/>
          <p:nvPr/>
        </p:nvSpPr>
        <p:spPr>
          <a:xfrm>
            <a:off x="7922362" y="4163568"/>
            <a:ext cx="169164" cy="169164"/>
          </a:xfrm>
          <a:prstGeom prst="ellipse">
            <a:avLst/>
          </a:prstGeom>
          <a:solidFill>
            <a:srgbClr val="0A0C10"/>
          </a:solidFill>
          <a:ln w="31750">
            <a:solidFill>
              <a:srgbClr val="A78BFA"/>
            </a:solidFill>
            <a:prstDash val="solid"/>
          </a:ln>
        </p:spPr>
      </p:sp>
      <p:sp>
        <p:nvSpPr>
          <p:cNvPr id="49" name="Shape 47"/>
          <p:cNvSpPr/>
          <p:nvPr/>
        </p:nvSpPr>
        <p:spPr>
          <a:xfrm>
            <a:off x="7596378" y="4601718"/>
            <a:ext cx="169164" cy="169164"/>
          </a:xfrm>
          <a:prstGeom prst="ellipse">
            <a:avLst/>
          </a:prstGeom>
          <a:solidFill>
            <a:srgbClr val="0A0C10"/>
          </a:solidFill>
          <a:ln w="31750">
            <a:solidFill>
              <a:srgbClr val="A78BFA"/>
            </a:solidFill>
            <a:prstDash val="solid"/>
          </a:ln>
        </p:spPr>
      </p:sp>
      <p:sp>
        <p:nvSpPr>
          <p:cNvPr id="50" name="Text 48"/>
          <p:cNvSpPr/>
          <p:nvPr/>
        </p:nvSpPr>
        <p:spPr>
          <a:xfrm>
            <a:off x="6492240" y="4873752"/>
            <a:ext cx="2377440" cy="274320"/>
          </a:xfrm>
          <a:prstGeom prst="rect">
            <a:avLst/>
          </a:prstGeom>
          <a:noFill/>
          <a:ln/>
        </p:spPr>
        <p:txBody>
          <a:bodyPr wrap="square" lIns="0" tIns="0" rIns="0" bIns="0" rtlCol="0" anchor="ctr"/>
          <a:lstStyle/>
          <a:p>
            <a:pPr algn="ctr" indent="0" marL="0">
              <a:buNone/>
            </a:pPr>
            <a:r>
              <a:rPr lang="en-US" sz="1250" b="1" spc="250" kern="0" dirty="0">
                <a:solidFill>
                  <a:srgbClr val="A78BFA"/>
                </a:solidFill>
                <a:latin typeface="Courier New" pitchFamily="34" charset="0"/>
                <a:ea typeface="Courier New" pitchFamily="34" charset="-122"/>
                <a:cs typeface="Courier New" pitchFamily="34" charset="-120"/>
              </a:rPr>
              <a:t>HYBRID</a:t>
            </a:r>
            <a:endParaRPr lang="en-US" sz="1250" dirty="0"/>
          </a:p>
        </p:txBody>
      </p:sp>
      <p:sp>
        <p:nvSpPr>
          <p:cNvPr id="51" name="Text 49"/>
          <p:cNvSpPr/>
          <p:nvPr/>
        </p:nvSpPr>
        <p:spPr>
          <a:xfrm>
            <a:off x="6492240" y="5148072"/>
            <a:ext cx="2377440" cy="274320"/>
          </a:xfrm>
          <a:prstGeom prst="rect">
            <a:avLst/>
          </a:prstGeom>
          <a:noFill/>
          <a:ln/>
        </p:spPr>
        <p:txBody>
          <a:bodyPr wrap="square" lIns="0" tIns="0" rIns="0" bIns="0" rtlCol="0" anchor="ctr"/>
          <a:lstStyle/>
          <a:p>
            <a:pPr algn="ctr" indent="0" marL="0">
              <a:buNone/>
            </a:pPr>
            <a:r>
              <a:rPr lang="en-US" sz="1300" dirty="0">
                <a:solidFill>
                  <a:srgbClr val="6B7382"/>
                </a:solidFill>
                <a:latin typeface="Arial" pitchFamily="34" charset="0"/>
                <a:ea typeface="Arial" pitchFamily="34" charset="-122"/>
                <a:cs typeface="Arial" pitchFamily="34" charset="-120"/>
              </a:rPr>
              <a:t>Kestra</a:t>
            </a:r>
            <a:endParaRPr lang="en-US" sz="1300" dirty="0"/>
          </a:p>
        </p:txBody>
      </p:sp>
      <p:sp>
        <p:nvSpPr>
          <p:cNvPr id="52" name="Shape 50"/>
          <p:cNvSpPr/>
          <p:nvPr/>
        </p:nvSpPr>
        <p:spPr>
          <a:xfrm flipV="1">
            <a:off x="9676638" y="3634740"/>
            <a:ext cx="473202" cy="525780"/>
          </a:xfrm>
          <a:prstGeom prst="line">
            <a:avLst/>
          </a:prstGeom>
          <a:noFill/>
          <a:ln w="25400">
            <a:solidFill>
              <a:srgbClr val="4ADE80"/>
            </a:solidFill>
            <a:prstDash val="solid"/>
          </a:ln>
        </p:spPr>
      </p:sp>
      <p:sp>
        <p:nvSpPr>
          <p:cNvPr id="53" name="Shape 51"/>
          <p:cNvSpPr/>
          <p:nvPr/>
        </p:nvSpPr>
        <p:spPr>
          <a:xfrm>
            <a:off x="10149840" y="3634740"/>
            <a:ext cx="473202" cy="525780"/>
          </a:xfrm>
          <a:prstGeom prst="line">
            <a:avLst/>
          </a:prstGeom>
          <a:noFill/>
          <a:ln w="25400">
            <a:solidFill>
              <a:srgbClr val="4ADE80"/>
            </a:solidFill>
            <a:prstDash val="solid"/>
          </a:ln>
        </p:spPr>
      </p:sp>
      <p:sp>
        <p:nvSpPr>
          <p:cNvPr id="54" name="Shape 52"/>
          <p:cNvSpPr/>
          <p:nvPr/>
        </p:nvSpPr>
        <p:spPr>
          <a:xfrm flipV="1">
            <a:off x="9468429" y="4160520"/>
            <a:ext cx="208209" cy="525780"/>
          </a:xfrm>
          <a:prstGeom prst="line">
            <a:avLst/>
          </a:prstGeom>
          <a:noFill/>
          <a:ln w="25400">
            <a:solidFill>
              <a:srgbClr val="4ADE80"/>
            </a:solidFill>
            <a:prstDash val="solid"/>
          </a:ln>
        </p:spPr>
      </p:sp>
      <p:sp>
        <p:nvSpPr>
          <p:cNvPr id="55" name="Shape 53"/>
          <p:cNvSpPr/>
          <p:nvPr/>
        </p:nvSpPr>
        <p:spPr>
          <a:xfrm>
            <a:off x="9676638" y="4160520"/>
            <a:ext cx="359634" cy="525780"/>
          </a:xfrm>
          <a:prstGeom prst="line">
            <a:avLst/>
          </a:prstGeom>
          <a:noFill/>
          <a:ln w="25400">
            <a:solidFill>
              <a:srgbClr val="4ADE80"/>
            </a:solidFill>
            <a:prstDash val="solid"/>
          </a:ln>
        </p:spPr>
      </p:sp>
      <p:sp>
        <p:nvSpPr>
          <p:cNvPr id="56" name="Shape 54"/>
          <p:cNvSpPr/>
          <p:nvPr/>
        </p:nvSpPr>
        <p:spPr>
          <a:xfrm>
            <a:off x="10623042" y="4160520"/>
            <a:ext cx="94640" cy="525780"/>
          </a:xfrm>
          <a:prstGeom prst="line">
            <a:avLst/>
          </a:prstGeom>
          <a:noFill/>
          <a:ln w="25400">
            <a:solidFill>
              <a:srgbClr val="4ADE80"/>
            </a:solidFill>
            <a:prstDash val="dash"/>
          </a:ln>
        </p:spPr>
      </p:sp>
      <p:sp>
        <p:nvSpPr>
          <p:cNvPr id="57" name="Shape 55"/>
          <p:cNvSpPr/>
          <p:nvPr/>
        </p:nvSpPr>
        <p:spPr>
          <a:xfrm>
            <a:off x="10065258" y="3550158"/>
            <a:ext cx="169164" cy="169164"/>
          </a:xfrm>
          <a:prstGeom prst="ellipse">
            <a:avLst/>
          </a:prstGeom>
          <a:solidFill>
            <a:srgbClr val="0A0C10"/>
          </a:solidFill>
          <a:ln w="31750">
            <a:solidFill>
              <a:srgbClr val="4ADE80"/>
            </a:solidFill>
            <a:prstDash val="solid"/>
          </a:ln>
        </p:spPr>
      </p:sp>
      <p:sp>
        <p:nvSpPr>
          <p:cNvPr id="58" name="Shape 56"/>
          <p:cNvSpPr/>
          <p:nvPr/>
        </p:nvSpPr>
        <p:spPr>
          <a:xfrm>
            <a:off x="9592056" y="4075938"/>
            <a:ext cx="169164" cy="169164"/>
          </a:xfrm>
          <a:prstGeom prst="ellipse">
            <a:avLst/>
          </a:prstGeom>
          <a:solidFill>
            <a:srgbClr val="0A0C10"/>
          </a:solidFill>
          <a:ln w="31750">
            <a:solidFill>
              <a:srgbClr val="4ADE80"/>
            </a:solidFill>
            <a:prstDash val="solid"/>
          </a:ln>
        </p:spPr>
      </p:sp>
      <p:sp>
        <p:nvSpPr>
          <p:cNvPr id="59" name="Shape 57"/>
          <p:cNvSpPr/>
          <p:nvPr/>
        </p:nvSpPr>
        <p:spPr>
          <a:xfrm>
            <a:off x="10538460" y="4075938"/>
            <a:ext cx="169164" cy="169164"/>
          </a:xfrm>
          <a:prstGeom prst="ellipse">
            <a:avLst/>
          </a:prstGeom>
          <a:solidFill>
            <a:srgbClr val="0A0C10"/>
          </a:solidFill>
          <a:ln w="31750">
            <a:solidFill>
              <a:srgbClr val="4ADE80"/>
            </a:solidFill>
            <a:prstDash val="solid"/>
          </a:ln>
        </p:spPr>
      </p:sp>
      <p:sp>
        <p:nvSpPr>
          <p:cNvPr id="60" name="Shape 58"/>
          <p:cNvSpPr/>
          <p:nvPr/>
        </p:nvSpPr>
        <p:spPr>
          <a:xfrm>
            <a:off x="9383847" y="4601718"/>
            <a:ext cx="169164" cy="169164"/>
          </a:xfrm>
          <a:prstGeom prst="ellipse">
            <a:avLst/>
          </a:prstGeom>
          <a:solidFill>
            <a:srgbClr val="0A0C10"/>
          </a:solidFill>
          <a:ln w="31750">
            <a:solidFill>
              <a:srgbClr val="4ADE80"/>
            </a:solidFill>
            <a:prstDash val="solid"/>
          </a:ln>
        </p:spPr>
      </p:sp>
      <p:sp>
        <p:nvSpPr>
          <p:cNvPr id="61" name="Shape 59"/>
          <p:cNvSpPr/>
          <p:nvPr/>
        </p:nvSpPr>
        <p:spPr>
          <a:xfrm>
            <a:off x="9951690" y="4601718"/>
            <a:ext cx="169164" cy="169164"/>
          </a:xfrm>
          <a:prstGeom prst="ellipse">
            <a:avLst/>
          </a:prstGeom>
          <a:solidFill>
            <a:srgbClr val="0A0C10"/>
          </a:solidFill>
          <a:ln w="31750">
            <a:solidFill>
              <a:srgbClr val="4ADE80"/>
            </a:solidFill>
            <a:prstDash val="solid"/>
          </a:ln>
        </p:spPr>
      </p:sp>
      <p:sp>
        <p:nvSpPr>
          <p:cNvPr id="62" name="Shape 60"/>
          <p:cNvSpPr/>
          <p:nvPr/>
        </p:nvSpPr>
        <p:spPr>
          <a:xfrm>
            <a:off x="10633100" y="4601718"/>
            <a:ext cx="169164" cy="169164"/>
          </a:xfrm>
          <a:prstGeom prst="ellipse">
            <a:avLst/>
          </a:prstGeom>
          <a:solidFill>
            <a:srgbClr val="0A0C10"/>
          </a:solidFill>
          <a:ln w="31750">
            <a:solidFill>
              <a:srgbClr val="4ADE80"/>
            </a:solidFill>
            <a:prstDash val="dash"/>
          </a:ln>
        </p:spPr>
      </p:sp>
      <p:sp>
        <p:nvSpPr>
          <p:cNvPr id="63" name="Text 61"/>
          <p:cNvSpPr/>
          <p:nvPr/>
        </p:nvSpPr>
        <p:spPr>
          <a:xfrm>
            <a:off x="8961120" y="4873752"/>
            <a:ext cx="2377440" cy="274320"/>
          </a:xfrm>
          <a:prstGeom prst="rect">
            <a:avLst/>
          </a:prstGeom>
          <a:noFill/>
          <a:ln/>
        </p:spPr>
        <p:txBody>
          <a:bodyPr wrap="square" lIns="0" tIns="0" rIns="0" bIns="0" rtlCol="0" anchor="ctr"/>
          <a:lstStyle/>
          <a:p>
            <a:pPr algn="ctr" indent="0" marL="0">
              <a:buNone/>
            </a:pPr>
            <a:r>
              <a:rPr lang="en-US" sz="1250" b="1" spc="250" kern="0" dirty="0">
                <a:solidFill>
                  <a:srgbClr val="4ADE80"/>
                </a:solidFill>
                <a:latin typeface="Courier New" pitchFamily="34" charset="0"/>
                <a:ea typeface="Courier New" pitchFamily="34" charset="-122"/>
                <a:cs typeface="Courier New" pitchFamily="34" charset="-120"/>
              </a:rPr>
              <a:t>AGENTIC</a:t>
            </a:r>
            <a:endParaRPr lang="en-US" sz="1250" dirty="0"/>
          </a:p>
        </p:txBody>
      </p:sp>
      <p:sp>
        <p:nvSpPr>
          <p:cNvPr id="64" name="Text 62"/>
          <p:cNvSpPr/>
          <p:nvPr/>
        </p:nvSpPr>
        <p:spPr>
          <a:xfrm>
            <a:off x="8961120" y="5148072"/>
            <a:ext cx="2377440" cy="274320"/>
          </a:xfrm>
          <a:prstGeom prst="rect">
            <a:avLst/>
          </a:prstGeom>
          <a:noFill/>
          <a:ln/>
        </p:spPr>
        <p:txBody>
          <a:bodyPr wrap="square" lIns="0" tIns="0" rIns="0" bIns="0" rtlCol="0" anchor="ctr"/>
          <a:lstStyle/>
          <a:p>
            <a:pPr algn="ctr" indent="0" marL="0">
              <a:buNone/>
            </a:pPr>
            <a:r>
              <a:rPr lang="en-US" sz="1300" dirty="0">
                <a:solidFill>
                  <a:srgbClr val="6B7382"/>
                </a:solidFill>
                <a:latin typeface="Arial" pitchFamily="34" charset="0"/>
                <a:ea typeface="Arial" pitchFamily="34" charset="-122"/>
                <a:cs typeface="Arial" pitchFamily="34" charset="-120"/>
              </a:rPr>
              <a:t>LangChain</a:t>
            </a:r>
            <a:endParaRPr lang="en-US" sz="1300" dirty="0"/>
          </a:p>
        </p:txBody>
      </p:sp>
      <p:sp>
        <p:nvSpPr>
          <p:cNvPr id="65" name="Shape 63"/>
          <p:cNvSpPr/>
          <p:nvPr/>
        </p:nvSpPr>
        <p:spPr>
          <a:xfrm>
            <a:off x="640080" y="5989320"/>
            <a:ext cx="10908792" cy="0"/>
          </a:xfrm>
          <a:prstGeom prst="line">
            <a:avLst/>
          </a:prstGeom>
          <a:noFill/>
          <a:ln w="9525">
            <a:solidFill>
              <a:srgbClr val="1E2432"/>
            </a:solidFill>
            <a:prstDash val="solid"/>
          </a:ln>
        </p:spPr>
      </p:sp>
      <p:sp>
        <p:nvSpPr>
          <p:cNvPr id="66" name="Text 64"/>
          <p:cNvSpPr/>
          <p:nvPr/>
        </p:nvSpPr>
        <p:spPr>
          <a:xfrm>
            <a:off x="640080" y="6053328"/>
            <a:ext cx="10881360" cy="502920"/>
          </a:xfrm>
          <a:prstGeom prst="rect">
            <a:avLst/>
          </a:prstGeom>
          <a:noFill/>
          <a:ln/>
        </p:spPr>
        <p:txBody>
          <a:bodyPr wrap="square" lIns="0" tIns="0" rIns="0" bIns="0" rtlCol="0" anchor="ctr"/>
          <a:lstStyle/>
          <a:p>
            <a:pPr indent="0" marL="0">
              <a:buNone/>
            </a:pPr>
            <a:r>
              <a:rPr lang="en-US" sz="1500" b="1" dirty="0">
                <a:solidFill>
                  <a:srgbClr val="F4F6F8"/>
                </a:solidFill>
                <a:latin typeface="Arial" pitchFamily="34" charset="0"/>
                <a:ea typeface="Arial" pitchFamily="34" charset="-122"/>
                <a:cs typeface="Arial" pitchFamily="34" charset="-120"/>
              </a:rPr>
              <a:t>Four engines. </a:t>
            </a:r>
            <a:pPr indent="0" marL="0">
              <a:buNone/>
            </a:pPr>
            <a:r>
              <a:rPr lang="en-US" sz="1500" dirty="0">
                <a:solidFill>
                  <a:srgbClr val="9AA3B2"/>
                </a:solidFill>
                <a:latin typeface="Arial" pitchFamily="34" charset="0"/>
                <a:ea typeface="Arial" pitchFamily="34" charset="-122"/>
                <a:cs typeface="Arial" pitchFamily="34" charset="-120"/>
              </a:rPr>
              <a:t>One question nobody asks — and how to tell which orchestrator your problem actually needs.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01 — THE DEFINITION</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2 / 11</a:t>
            </a:r>
            <a:endParaRPr lang="en-US" sz="1000" dirty="0"/>
          </a:p>
        </p:txBody>
      </p:sp>
      <p:sp>
        <p:nvSpPr>
          <p:cNvPr id="23" name="Text 21"/>
          <p:cNvSpPr/>
          <p:nvPr/>
        </p:nvSpPr>
        <p:spPr>
          <a:xfrm>
            <a:off x="640080" y="822960"/>
            <a:ext cx="10789920" cy="1234440"/>
          </a:xfrm>
          <a:prstGeom prst="rect">
            <a:avLst/>
          </a:prstGeom>
          <a:noFill/>
          <a:ln/>
        </p:spPr>
        <p:txBody>
          <a:bodyPr wrap="square" lIns="0" tIns="0" rIns="0" bIns="0" rtlCol="0" anchor="ctr"/>
          <a:lstStyle/>
          <a:p>
            <a:pPr indent="0" marL="0">
              <a:lnSpc>
                <a:spcPct val="102000"/>
              </a:lnSpc>
              <a:buNone/>
            </a:pPr>
            <a:r>
              <a:rPr lang="en-US" sz="3400" b="1" dirty="0">
                <a:solidFill>
                  <a:srgbClr val="F4F6F8"/>
                </a:solidFill>
                <a:latin typeface="Arial" pitchFamily="34" charset="0"/>
                <a:ea typeface="Arial" pitchFamily="34" charset="-122"/>
                <a:cs typeface="Arial" pitchFamily="34" charset="-120"/>
              </a:rPr>
              <a:t>An orchestrator is a runtime</a:t>
            </a:r>
            <a:endParaRPr lang="en-US" sz="3400" dirty="0"/>
          </a:p>
          <a:p>
            <a:pPr indent="0" marL="0">
              <a:lnSpc>
                <a:spcPct val="102000"/>
              </a:lnSpc>
              <a:buNone/>
            </a:pPr>
            <a:r>
              <a:rPr lang="en-US" sz="3400" b="1" dirty="0">
                <a:solidFill>
                  <a:srgbClr val="F4F6F8"/>
                </a:solidFill>
                <a:latin typeface="Arial" pitchFamily="34" charset="0"/>
                <a:ea typeface="Arial" pitchFamily="34" charset="-122"/>
                <a:cs typeface="Arial" pitchFamily="34" charset="-120"/>
              </a:rPr>
              <a:t>that manages a runtime.</a:t>
            </a:r>
            <a:endParaRPr lang="en-US" sz="3400" dirty="0"/>
          </a:p>
        </p:txBody>
      </p:sp>
      <p:sp>
        <p:nvSpPr>
          <p:cNvPr id="24" name="Shape 22"/>
          <p:cNvSpPr/>
          <p:nvPr/>
        </p:nvSpPr>
        <p:spPr>
          <a:xfrm>
            <a:off x="640080" y="2331720"/>
            <a:ext cx="3422904" cy="2788920"/>
          </a:xfrm>
          <a:prstGeom prst="roundRect">
            <a:avLst>
              <a:gd name="adj" fmla="val 3607"/>
            </a:avLst>
          </a:prstGeom>
          <a:solidFill>
            <a:srgbClr val="141824"/>
          </a:solidFill>
          <a:ln w="12700">
            <a:solidFill>
              <a:srgbClr val="272E3E"/>
            </a:solidFill>
            <a:prstDash val="solid"/>
          </a:ln>
        </p:spPr>
      </p:sp>
      <p:sp>
        <p:nvSpPr>
          <p:cNvPr id="25" name="Shape 23"/>
          <p:cNvSpPr/>
          <p:nvPr/>
        </p:nvSpPr>
        <p:spPr>
          <a:xfrm>
            <a:off x="937260" y="2766060"/>
            <a:ext cx="137160" cy="137160"/>
          </a:xfrm>
          <a:prstGeom prst="ellipse">
            <a:avLst/>
          </a:prstGeom>
          <a:solidFill>
            <a:srgbClr val="2DD4BF"/>
          </a:solidFill>
          <a:ln w="12700">
            <a:solidFill>
              <a:srgbClr val="2DD4BF"/>
            </a:solidFill>
            <a:prstDash val="solid"/>
          </a:ln>
        </p:spPr>
      </p:sp>
      <p:sp>
        <p:nvSpPr>
          <p:cNvPr id="26" name="Text 24"/>
          <p:cNvSpPr/>
          <p:nvPr/>
        </p:nvSpPr>
        <p:spPr>
          <a:xfrm>
            <a:off x="1207008" y="2679192"/>
            <a:ext cx="2599944" cy="320040"/>
          </a:xfrm>
          <a:prstGeom prst="rect">
            <a:avLst/>
          </a:prstGeom>
          <a:noFill/>
          <a:ln/>
        </p:spPr>
        <p:txBody>
          <a:bodyPr wrap="square" lIns="0" tIns="0" rIns="0" bIns="0" rtlCol="0" anchor="ctr"/>
          <a:lstStyle/>
          <a:p>
            <a:pPr indent="0" marL="0">
              <a:buNone/>
            </a:pPr>
            <a:r>
              <a:rPr lang="en-US" sz="1500" b="1" spc="200" kern="0" dirty="0">
                <a:solidFill>
                  <a:srgbClr val="2DD4BF"/>
                </a:solidFill>
                <a:latin typeface="Courier New" pitchFamily="34" charset="0"/>
                <a:ea typeface="Courier New" pitchFamily="34" charset="-122"/>
                <a:cs typeface="Courier New" pitchFamily="34" charset="-120"/>
              </a:rPr>
              <a:t>EXECUTE</a:t>
            </a:r>
            <a:endParaRPr lang="en-US" sz="1500" dirty="0"/>
          </a:p>
        </p:txBody>
      </p:sp>
      <p:sp>
        <p:nvSpPr>
          <p:cNvPr id="27" name="Text 25"/>
          <p:cNvSpPr/>
          <p:nvPr/>
        </p:nvSpPr>
        <p:spPr>
          <a:xfrm>
            <a:off x="3194304" y="2606040"/>
            <a:ext cx="640080" cy="640080"/>
          </a:xfrm>
          <a:prstGeom prst="rect">
            <a:avLst/>
          </a:prstGeom>
          <a:noFill/>
          <a:ln/>
        </p:spPr>
        <p:txBody>
          <a:bodyPr wrap="square" lIns="0" tIns="0" rIns="0" bIns="0" rtlCol="0" anchor="ctr"/>
          <a:lstStyle/>
          <a:p>
            <a:pPr algn="r" indent="0" marL="0">
              <a:buNone/>
            </a:pPr>
            <a:r>
              <a:rPr lang="en-US" sz="3000" b="1" dirty="0">
                <a:solidFill>
                  <a:srgbClr val="232B3B"/>
                </a:solidFill>
                <a:latin typeface="Arial" pitchFamily="34" charset="0"/>
                <a:ea typeface="Arial" pitchFamily="34" charset="-122"/>
                <a:cs typeface="Arial" pitchFamily="34" charset="-120"/>
              </a:rPr>
              <a:t>1</a:t>
            </a:r>
            <a:endParaRPr lang="en-US" sz="3000" dirty="0"/>
          </a:p>
        </p:txBody>
      </p:sp>
      <p:sp>
        <p:nvSpPr>
          <p:cNvPr id="28" name="Text 26"/>
          <p:cNvSpPr/>
          <p:nvPr/>
        </p:nvSpPr>
        <p:spPr>
          <a:xfrm>
            <a:off x="1005840" y="3383280"/>
            <a:ext cx="2691384" cy="1554480"/>
          </a:xfrm>
          <a:prstGeom prst="rect">
            <a:avLst/>
          </a:prstGeom>
          <a:noFill/>
          <a:ln/>
        </p:spPr>
        <p:txBody>
          <a:bodyPr wrap="square" lIns="0" tIns="0" rIns="0" bIns="0" rtlCol="0" anchor="t"/>
          <a:lstStyle/>
          <a:p>
            <a:pPr indent="0" marL="0">
              <a:lnSpc>
                <a:spcPct val="112000"/>
              </a:lnSpc>
              <a:buNone/>
            </a:pPr>
            <a:r>
              <a:rPr lang="en-US" sz="1550" dirty="0">
                <a:solidFill>
                  <a:srgbClr val="9AA3B2"/>
                </a:solidFill>
                <a:latin typeface="Arial" pitchFamily="34" charset="0"/>
                <a:ea typeface="Arial" pitchFamily="34" charset="-122"/>
                <a:cs typeface="Arial" pitchFamily="34" charset="-120"/>
              </a:rPr>
              <a:t>The right steps, in the right order, in the right place.</a:t>
            </a:r>
            <a:endParaRPr lang="en-US" sz="1550" dirty="0"/>
          </a:p>
        </p:txBody>
      </p:sp>
      <p:sp>
        <p:nvSpPr>
          <p:cNvPr id="29" name="Shape 27"/>
          <p:cNvSpPr/>
          <p:nvPr/>
        </p:nvSpPr>
        <p:spPr>
          <a:xfrm>
            <a:off x="4383024" y="2331720"/>
            <a:ext cx="3422904" cy="2788920"/>
          </a:xfrm>
          <a:prstGeom prst="roundRect">
            <a:avLst>
              <a:gd name="adj" fmla="val 3607"/>
            </a:avLst>
          </a:prstGeom>
          <a:solidFill>
            <a:srgbClr val="141824"/>
          </a:solidFill>
          <a:ln w="12700">
            <a:solidFill>
              <a:srgbClr val="272E3E"/>
            </a:solidFill>
            <a:prstDash val="solid"/>
          </a:ln>
        </p:spPr>
      </p:sp>
      <p:sp>
        <p:nvSpPr>
          <p:cNvPr id="30" name="Shape 28"/>
          <p:cNvSpPr/>
          <p:nvPr/>
        </p:nvSpPr>
        <p:spPr>
          <a:xfrm>
            <a:off x="4680204" y="2766060"/>
            <a:ext cx="137160" cy="137160"/>
          </a:xfrm>
          <a:prstGeom prst="ellipse">
            <a:avLst/>
          </a:prstGeom>
          <a:solidFill>
            <a:srgbClr val="A78BFA"/>
          </a:solidFill>
          <a:ln w="12700">
            <a:solidFill>
              <a:srgbClr val="A78BFA"/>
            </a:solidFill>
            <a:prstDash val="solid"/>
          </a:ln>
        </p:spPr>
      </p:sp>
      <p:sp>
        <p:nvSpPr>
          <p:cNvPr id="31" name="Text 29"/>
          <p:cNvSpPr/>
          <p:nvPr/>
        </p:nvSpPr>
        <p:spPr>
          <a:xfrm>
            <a:off x="4949952" y="2679192"/>
            <a:ext cx="2599944" cy="320040"/>
          </a:xfrm>
          <a:prstGeom prst="rect">
            <a:avLst/>
          </a:prstGeom>
          <a:noFill/>
          <a:ln/>
        </p:spPr>
        <p:txBody>
          <a:bodyPr wrap="square" lIns="0" tIns="0" rIns="0" bIns="0" rtlCol="0" anchor="ctr"/>
          <a:lstStyle/>
          <a:p>
            <a:pPr indent="0" marL="0">
              <a:buNone/>
            </a:pPr>
            <a:r>
              <a:rPr lang="en-US" sz="1500" b="1" spc="200" kern="0" dirty="0">
                <a:solidFill>
                  <a:srgbClr val="A78BFA"/>
                </a:solidFill>
                <a:latin typeface="Courier New" pitchFamily="34" charset="0"/>
                <a:ea typeface="Courier New" pitchFamily="34" charset="-122"/>
                <a:cs typeface="Courier New" pitchFamily="34" charset="-120"/>
              </a:rPr>
              <a:t>MANAGE</a:t>
            </a:r>
            <a:endParaRPr lang="en-US" sz="1500" dirty="0"/>
          </a:p>
        </p:txBody>
      </p:sp>
      <p:sp>
        <p:nvSpPr>
          <p:cNvPr id="32" name="Text 30"/>
          <p:cNvSpPr/>
          <p:nvPr/>
        </p:nvSpPr>
        <p:spPr>
          <a:xfrm>
            <a:off x="6937248" y="2606040"/>
            <a:ext cx="640080" cy="640080"/>
          </a:xfrm>
          <a:prstGeom prst="rect">
            <a:avLst/>
          </a:prstGeom>
          <a:noFill/>
          <a:ln/>
        </p:spPr>
        <p:txBody>
          <a:bodyPr wrap="square" lIns="0" tIns="0" rIns="0" bIns="0" rtlCol="0" anchor="ctr"/>
          <a:lstStyle/>
          <a:p>
            <a:pPr algn="r" indent="0" marL="0">
              <a:buNone/>
            </a:pPr>
            <a:r>
              <a:rPr lang="en-US" sz="3000" b="1" dirty="0">
                <a:solidFill>
                  <a:srgbClr val="232B3B"/>
                </a:solidFill>
                <a:latin typeface="Arial" pitchFamily="34" charset="0"/>
                <a:ea typeface="Arial" pitchFamily="34" charset="-122"/>
                <a:cs typeface="Arial" pitchFamily="34" charset="-120"/>
              </a:rPr>
              <a:t>2</a:t>
            </a:r>
            <a:endParaRPr lang="en-US" sz="3000" dirty="0"/>
          </a:p>
        </p:txBody>
      </p:sp>
      <p:sp>
        <p:nvSpPr>
          <p:cNvPr id="33" name="Text 31"/>
          <p:cNvSpPr/>
          <p:nvPr/>
        </p:nvSpPr>
        <p:spPr>
          <a:xfrm>
            <a:off x="4748784" y="3383280"/>
            <a:ext cx="2691384" cy="1554480"/>
          </a:xfrm>
          <a:prstGeom prst="rect">
            <a:avLst/>
          </a:prstGeom>
          <a:noFill/>
          <a:ln/>
        </p:spPr>
        <p:txBody>
          <a:bodyPr wrap="square" lIns="0" tIns="0" rIns="0" bIns="0" rtlCol="0" anchor="t"/>
          <a:lstStyle/>
          <a:p>
            <a:pPr indent="0" marL="0">
              <a:lnSpc>
                <a:spcPct val="112000"/>
              </a:lnSpc>
              <a:buNone/>
            </a:pPr>
            <a:r>
              <a:rPr lang="en-US" sz="1550" dirty="0">
                <a:solidFill>
                  <a:srgbClr val="9AA3B2"/>
                </a:solidFill>
                <a:latin typeface="Arial" pitchFamily="34" charset="0"/>
                <a:ea typeface="Arial" pitchFamily="34" charset="-122"/>
                <a:cs typeface="Arial" pitchFamily="34" charset="-120"/>
              </a:rPr>
              <a:t>Retries failures, holds state between steps, resumes after a crash, bounds how much runs at once.</a:t>
            </a:r>
            <a:endParaRPr lang="en-US" sz="1550" dirty="0"/>
          </a:p>
        </p:txBody>
      </p:sp>
      <p:sp>
        <p:nvSpPr>
          <p:cNvPr id="34" name="Shape 32"/>
          <p:cNvSpPr/>
          <p:nvPr/>
        </p:nvSpPr>
        <p:spPr>
          <a:xfrm>
            <a:off x="8125968" y="2331720"/>
            <a:ext cx="3422904" cy="2788920"/>
          </a:xfrm>
          <a:prstGeom prst="roundRect">
            <a:avLst>
              <a:gd name="adj" fmla="val 3607"/>
            </a:avLst>
          </a:prstGeom>
          <a:solidFill>
            <a:srgbClr val="141824"/>
          </a:solidFill>
          <a:ln w="12700">
            <a:solidFill>
              <a:srgbClr val="272E3E"/>
            </a:solidFill>
            <a:prstDash val="solid"/>
          </a:ln>
        </p:spPr>
      </p:sp>
      <p:sp>
        <p:nvSpPr>
          <p:cNvPr id="35" name="Shape 33"/>
          <p:cNvSpPr/>
          <p:nvPr/>
        </p:nvSpPr>
        <p:spPr>
          <a:xfrm>
            <a:off x="8423148" y="2766060"/>
            <a:ext cx="137160" cy="137160"/>
          </a:xfrm>
          <a:prstGeom prst="ellipse">
            <a:avLst/>
          </a:prstGeom>
          <a:solidFill>
            <a:srgbClr val="F5A623"/>
          </a:solidFill>
          <a:ln w="12700">
            <a:solidFill>
              <a:srgbClr val="F5A623"/>
            </a:solidFill>
            <a:prstDash val="solid"/>
          </a:ln>
        </p:spPr>
      </p:sp>
      <p:sp>
        <p:nvSpPr>
          <p:cNvPr id="36" name="Text 34"/>
          <p:cNvSpPr/>
          <p:nvPr/>
        </p:nvSpPr>
        <p:spPr>
          <a:xfrm>
            <a:off x="8692896" y="2679192"/>
            <a:ext cx="2599944" cy="320040"/>
          </a:xfrm>
          <a:prstGeom prst="rect">
            <a:avLst/>
          </a:prstGeom>
          <a:noFill/>
          <a:ln/>
        </p:spPr>
        <p:txBody>
          <a:bodyPr wrap="square" lIns="0" tIns="0" rIns="0" bIns="0" rtlCol="0" anchor="ctr"/>
          <a:lstStyle/>
          <a:p>
            <a:pPr indent="0" marL="0">
              <a:buNone/>
            </a:pPr>
            <a:r>
              <a:rPr lang="en-US" sz="1500" b="1" spc="200" kern="0" dirty="0">
                <a:solidFill>
                  <a:srgbClr val="F5A623"/>
                </a:solidFill>
                <a:latin typeface="Courier New" pitchFamily="34" charset="0"/>
                <a:ea typeface="Courier New" pitchFamily="34" charset="-122"/>
                <a:cs typeface="Courier New" pitchFamily="34" charset="-120"/>
              </a:rPr>
              <a:t>GOVERN</a:t>
            </a:r>
            <a:endParaRPr lang="en-US" sz="1500" dirty="0"/>
          </a:p>
        </p:txBody>
      </p:sp>
      <p:sp>
        <p:nvSpPr>
          <p:cNvPr id="37" name="Text 35"/>
          <p:cNvSpPr/>
          <p:nvPr/>
        </p:nvSpPr>
        <p:spPr>
          <a:xfrm>
            <a:off x="10680192" y="2606040"/>
            <a:ext cx="640080" cy="640080"/>
          </a:xfrm>
          <a:prstGeom prst="rect">
            <a:avLst/>
          </a:prstGeom>
          <a:noFill/>
          <a:ln/>
        </p:spPr>
        <p:txBody>
          <a:bodyPr wrap="square" lIns="0" tIns="0" rIns="0" bIns="0" rtlCol="0" anchor="ctr"/>
          <a:lstStyle/>
          <a:p>
            <a:pPr algn="r" indent="0" marL="0">
              <a:buNone/>
            </a:pPr>
            <a:r>
              <a:rPr lang="en-US" sz="3000" b="1" dirty="0">
                <a:solidFill>
                  <a:srgbClr val="232B3B"/>
                </a:solidFill>
                <a:latin typeface="Arial" pitchFamily="34" charset="0"/>
                <a:ea typeface="Arial" pitchFamily="34" charset="-122"/>
                <a:cs typeface="Arial" pitchFamily="34" charset="-120"/>
              </a:rPr>
              <a:t>3</a:t>
            </a:r>
            <a:endParaRPr lang="en-US" sz="3000" dirty="0"/>
          </a:p>
        </p:txBody>
      </p:sp>
      <p:sp>
        <p:nvSpPr>
          <p:cNvPr id="38" name="Text 36"/>
          <p:cNvSpPr/>
          <p:nvPr/>
        </p:nvSpPr>
        <p:spPr>
          <a:xfrm>
            <a:off x="8491728" y="3383280"/>
            <a:ext cx="2691384" cy="1554480"/>
          </a:xfrm>
          <a:prstGeom prst="rect">
            <a:avLst/>
          </a:prstGeom>
          <a:noFill/>
          <a:ln/>
        </p:spPr>
        <p:txBody>
          <a:bodyPr wrap="square" lIns="0" tIns="0" rIns="0" bIns="0" rtlCol="0" anchor="t"/>
          <a:lstStyle/>
          <a:p>
            <a:pPr indent="0" marL="0">
              <a:lnSpc>
                <a:spcPct val="112000"/>
              </a:lnSpc>
              <a:buNone/>
            </a:pPr>
            <a:r>
              <a:rPr lang="en-US" sz="1550" dirty="0">
                <a:solidFill>
                  <a:srgbClr val="9AA3B2"/>
                </a:solidFill>
                <a:latin typeface="Arial" pitchFamily="34" charset="0"/>
                <a:ea typeface="Arial" pitchFamily="34" charset="-122"/>
                <a:cs typeface="Arial" pitchFamily="34" charset="-120"/>
              </a:rPr>
              <a:t>Shows what ran, what it produced, who approved it, and what broke.</a:t>
            </a:r>
            <a:endParaRPr lang="en-US" sz="1550" dirty="0"/>
          </a:p>
        </p:txBody>
      </p:sp>
      <p:sp>
        <p:nvSpPr>
          <p:cNvPr id="39" name="Text 37"/>
          <p:cNvSpPr/>
          <p:nvPr/>
        </p:nvSpPr>
        <p:spPr>
          <a:xfrm>
            <a:off x="640080" y="5486400"/>
            <a:ext cx="10881360" cy="6400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The third job is the one people forget</a:t>
            </a:r>
            <a:pPr indent="0" marL="0">
              <a:buNone/>
            </a:pPr>
            <a:r>
              <a:rPr lang="en-US" sz="1600" dirty="0">
                <a:solidFill>
                  <a:srgbClr val="9AA3B2"/>
                </a:solidFill>
                <a:latin typeface="Arial" pitchFamily="34" charset="0"/>
                <a:ea typeface="Arial" pitchFamily="34" charset="-122"/>
                <a:cs typeface="Arial" pitchFamily="34" charset="-120"/>
              </a:rPr>
              <a:t> — and the reason orchestrators exist as products, not as a file in your repo.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02 — THE MENTAL MODEL</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3 / 11</a:t>
            </a:r>
            <a:endParaRPr lang="en-US" sz="1000" dirty="0"/>
          </a:p>
        </p:txBody>
      </p:sp>
      <p:sp>
        <p:nvSpPr>
          <p:cNvPr id="23" name="Text 21"/>
          <p:cNvSpPr/>
          <p:nvPr/>
        </p:nvSpPr>
        <p:spPr>
          <a:xfrm>
            <a:off x="640080" y="822960"/>
            <a:ext cx="10789920" cy="640080"/>
          </a:xfrm>
          <a:prstGeom prst="rect">
            <a:avLst/>
          </a:prstGeom>
          <a:noFill/>
          <a:ln/>
        </p:spPr>
        <p:txBody>
          <a:bodyPr wrap="square" lIns="0" tIns="0" rIns="0" bIns="0" rtlCol="0" anchor="ctr"/>
          <a:lstStyle/>
          <a:p>
            <a:pPr indent="0" marL="0">
              <a:buNone/>
            </a:pPr>
            <a:r>
              <a:rPr lang="en-US" sz="3400" b="1" dirty="0">
                <a:solidFill>
                  <a:srgbClr val="F4F6F8"/>
                </a:solidFill>
                <a:latin typeface="Arial" pitchFamily="34" charset="0"/>
                <a:ea typeface="Arial" pitchFamily="34" charset="-122"/>
                <a:cs typeface="Arial" pitchFamily="34" charset="-120"/>
              </a:rPr>
              <a:t>Three shapes to hold.</a:t>
            </a:r>
            <a:endParaRPr lang="en-US" sz="3400" dirty="0"/>
          </a:p>
        </p:txBody>
      </p:sp>
      <p:sp>
        <p:nvSpPr>
          <p:cNvPr id="24" name="Text 22"/>
          <p:cNvSpPr/>
          <p:nvPr/>
        </p:nvSpPr>
        <p:spPr>
          <a:xfrm>
            <a:off x="640080" y="1481328"/>
            <a:ext cx="10789920" cy="365760"/>
          </a:xfrm>
          <a:prstGeom prst="rect">
            <a:avLst/>
          </a:prstGeom>
          <a:noFill/>
          <a:ln/>
        </p:spPr>
        <p:txBody>
          <a:bodyPr wrap="square" lIns="0" tIns="0" rIns="0" bIns="0" rtlCol="0" anchor="ctr"/>
          <a:lstStyle/>
          <a:p>
            <a:pPr indent="0" marL="0">
              <a:buNone/>
            </a:pPr>
            <a:r>
              <a:rPr lang="en-US" sz="1500" dirty="0">
                <a:solidFill>
                  <a:srgbClr val="6B7382"/>
                </a:solidFill>
                <a:latin typeface="Arial" pitchFamily="34" charset="0"/>
                <a:ea typeface="Arial" pitchFamily="34" charset="-122"/>
                <a:cs typeface="Arial" pitchFamily="34" charset="-120"/>
              </a:rPr>
              <a:t>The pictures are easier to hold than any table — and they carry all the way down.</a:t>
            </a:r>
            <a:endParaRPr lang="en-US" sz="1500" dirty="0"/>
          </a:p>
        </p:txBody>
      </p:sp>
      <p:sp>
        <p:nvSpPr>
          <p:cNvPr id="25" name="Shape 23"/>
          <p:cNvSpPr/>
          <p:nvPr/>
        </p:nvSpPr>
        <p:spPr>
          <a:xfrm>
            <a:off x="640080" y="2148840"/>
            <a:ext cx="3422904" cy="3063240"/>
          </a:xfrm>
          <a:prstGeom prst="roundRect">
            <a:avLst>
              <a:gd name="adj" fmla="val 3284"/>
            </a:avLst>
          </a:prstGeom>
          <a:solidFill>
            <a:srgbClr val="141824"/>
          </a:solidFill>
          <a:ln w="12700">
            <a:solidFill>
              <a:srgbClr val="272E3E"/>
            </a:solidFill>
            <a:prstDash val="solid"/>
          </a:ln>
        </p:spPr>
      </p:sp>
      <p:sp>
        <p:nvSpPr>
          <p:cNvPr id="26" name="Shape 24"/>
          <p:cNvSpPr/>
          <p:nvPr/>
        </p:nvSpPr>
        <p:spPr>
          <a:xfrm>
            <a:off x="1261872" y="2514600"/>
            <a:ext cx="0" cy="822960"/>
          </a:xfrm>
          <a:prstGeom prst="line">
            <a:avLst/>
          </a:prstGeom>
          <a:noFill/>
          <a:ln w="25400">
            <a:solidFill>
              <a:srgbClr val="2DD4BF"/>
            </a:solidFill>
            <a:prstDash val="solid"/>
          </a:ln>
        </p:spPr>
      </p:sp>
      <p:sp>
        <p:nvSpPr>
          <p:cNvPr id="27" name="Shape 25"/>
          <p:cNvSpPr/>
          <p:nvPr/>
        </p:nvSpPr>
        <p:spPr>
          <a:xfrm>
            <a:off x="1177290" y="2430018"/>
            <a:ext cx="169164" cy="169164"/>
          </a:xfrm>
          <a:prstGeom prst="ellipse">
            <a:avLst/>
          </a:prstGeom>
          <a:solidFill>
            <a:srgbClr val="0A0C10"/>
          </a:solidFill>
          <a:ln w="31750">
            <a:solidFill>
              <a:srgbClr val="2DD4BF"/>
            </a:solidFill>
            <a:prstDash val="solid"/>
          </a:ln>
        </p:spPr>
      </p:sp>
      <p:sp>
        <p:nvSpPr>
          <p:cNvPr id="28" name="Shape 26"/>
          <p:cNvSpPr/>
          <p:nvPr/>
        </p:nvSpPr>
        <p:spPr>
          <a:xfrm>
            <a:off x="1177290" y="2704338"/>
            <a:ext cx="169164" cy="169164"/>
          </a:xfrm>
          <a:prstGeom prst="ellipse">
            <a:avLst/>
          </a:prstGeom>
          <a:solidFill>
            <a:srgbClr val="0A0C10"/>
          </a:solidFill>
          <a:ln w="31750">
            <a:solidFill>
              <a:srgbClr val="2DD4BF"/>
            </a:solidFill>
            <a:prstDash val="solid"/>
          </a:ln>
        </p:spPr>
      </p:sp>
      <p:sp>
        <p:nvSpPr>
          <p:cNvPr id="29" name="Shape 27"/>
          <p:cNvSpPr/>
          <p:nvPr/>
        </p:nvSpPr>
        <p:spPr>
          <a:xfrm>
            <a:off x="1177290" y="2978658"/>
            <a:ext cx="169164" cy="169164"/>
          </a:xfrm>
          <a:prstGeom prst="ellipse">
            <a:avLst/>
          </a:prstGeom>
          <a:solidFill>
            <a:srgbClr val="0A0C10"/>
          </a:solidFill>
          <a:ln w="31750">
            <a:solidFill>
              <a:srgbClr val="2DD4BF"/>
            </a:solidFill>
            <a:prstDash val="solid"/>
          </a:ln>
        </p:spPr>
      </p:sp>
      <p:sp>
        <p:nvSpPr>
          <p:cNvPr id="30" name="Shape 28"/>
          <p:cNvSpPr/>
          <p:nvPr/>
        </p:nvSpPr>
        <p:spPr>
          <a:xfrm>
            <a:off x="1177290" y="3252978"/>
            <a:ext cx="169164" cy="169164"/>
          </a:xfrm>
          <a:prstGeom prst="ellipse">
            <a:avLst/>
          </a:prstGeom>
          <a:solidFill>
            <a:srgbClr val="0A0C10"/>
          </a:solidFill>
          <a:ln w="31750">
            <a:solidFill>
              <a:srgbClr val="2DD4BF"/>
            </a:solidFill>
            <a:prstDash val="solid"/>
          </a:ln>
        </p:spPr>
      </p:sp>
      <p:sp>
        <p:nvSpPr>
          <p:cNvPr id="31" name="Text 29"/>
          <p:cNvSpPr/>
          <p:nvPr/>
        </p:nvSpPr>
        <p:spPr>
          <a:xfrm>
            <a:off x="2234184" y="2532888"/>
            <a:ext cx="1600200" cy="274320"/>
          </a:xfrm>
          <a:prstGeom prst="rect">
            <a:avLst/>
          </a:prstGeom>
          <a:noFill/>
          <a:ln/>
        </p:spPr>
        <p:txBody>
          <a:bodyPr wrap="square" lIns="0" tIns="0" rIns="0" bIns="0" rtlCol="0" anchor="ctr"/>
          <a:lstStyle/>
          <a:p>
            <a:pPr algn="r" indent="0" marL="0">
              <a:buNone/>
            </a:pPr>
            <a:r>
              <a:rPr lang="en-US" sz="1100" b="1" spc="250" kern="0" dirty="0">
                <a:solidFill>
                  <a:srgbClr val="2DD4BF"/>
                </a:solidFill>
                <a:latin typeface="Courier New" pitchFamily="34" charset="0"/>
                <a:ea typeface="Courier New" pitchFamily="34" charset="-122"/>
                <a:cs typeface="Courier New" pitchFamily="34" charset="-120"/>
              </a:rPr>
              <a:t>DATA</a:t>
            </a:r>
            <a:endParaRPr lang="en-US" sz="1100" dirty="0"/>
          </a:p>
        </p:txBody>
      </p:sp>
      <p:sp>
        <p:nvSpPr>
          <p:cNvPr id="32" name="Text 30"/>
          <p:cNvSpPr/>
          <p:nvPr/>
        </p:nvSpPr>
        <p:spPr>
          <a:xfrm>
            <a:off x="1005840" y="3520440"/>
            <a:ext cx="2691384" cy="457200"/>
          </a:xfrm>
          <a:prstGeom prst="rect">
            <a:avLst/>
          </a:prstGeom>
          <a:noFill/>
          <a:ln/>
        </p:spPr>
        <p:txBody>
          <a:bodyPr wrap="square" lIns="0" tIns="0" rIns="0" bIns="0" rtlCol="0" anchor="ctr"/>
          <a:lstStyle/>
          <a:p>
            <a:pPr indent="0" marL="0">
              <a:buNone/>
            </a:pPr>
            <a:r>
              <a:rPr lang="en-US" sz="2200" b="1" dirty="0">
                <a:solidFill>
                  <a:srgbClr val="F4F6F8"/>
                </a:solidFill>
                <a:latin typeface="Arial" pitchFamily="34" charset="0"/>
                <a:ea typeface="Arial" pitchFamily="34" charset="-122"/>
                <a:cs typeface="Arial" pitchFamily="34" charset="-120"/>
              </a:rPr>
              <a:t>Conveyor belt</a:t>
            </a:r>
            <a:endParaRPr lang="en-US" sz="2200" dirty="0"/>
          </a:p>
        </p:txBody>
      </p:sp>
      <p:sp>
        <p:nvSpPr>
          <p:cNvPr id="33" name="Text 31"/>
          <p:cNvSpPr/>
          <p:nvPr/>
        </p:nvSpPr>
        <p:spPr>
          <a:xfrm>
            <a:off x="1005840" y="4023360"/>
            <a:ext cx="2691384" cy="1051560"/>
          </a:xfrm>
          <a:prstGeom prst="rect">
            <a:avLst/>
          </a:prstGeom>
          <a:noFill/>
          <a:ln/>
        </p:spPr>
        <p:txBody>
          <a:bodyPr wrap="square" lIns="0" tIns="0" rIns="0" bIns="0" rtlCol="0" anchor="t"/>
          <a:lstStyle/>
          <a:p>
            <a:pPr indent="0" marL="0">
              <a:lnSpc>
                <a:spcPct val="112000"/>
              </a:lnSpc>
              <a:buNone/>
            </a:pPr>
            <a:r>
              <a:rPr lang="en-US" sz="1400" dirty="0">
                <a:solidFill>
                  <a:srgbClr val="9AA3B2"/>
                </a:solidFill>
                <a:latin typeface="Arial" pitchFamily="34" charset="0"/>
                <a:ea typeface="Arial" pitchFamily="34" charset="-122"/>
                <a:cs typeface="Arial" pitchFamily="34" charset="-120"/>
              </a:rPr>
              <a:t>Same stations, same order, every single night. More to process? Widen the belt — but the stations don't move and the order doesn't change.</a:t>
            </a:r>
            <a:endParaRPr lang="en-US" sz="1400" dirty="0"/>
          </a:p>
        </p:txBody>
      </p:sp>
      <p:sp>
        <p:nvSpPr>
          <p:cNvPr id="34" name="Shape 32"/>
          <p:cNvSpPr/>
          <p:nvPr/>
        </p:nvSpPr>
        <p:spPr>
          <a:xfrm>
            <a:off x="4383024" y="2148840"/>
            <a:ext cx="3422904" cy="3063240"/>
          </a:xfrm>
          <a:prstGeom prst="roundRect">
            <a:avLst>
              <a:gd name="adj" fmla="val 3284"/>
            </a:avLst>
          </a:prstGeom>
          <a:solidFill>
            <a:srgbClr val="141824"/>
          </a:solidFill>
          <a:ln w="12700">
            <a:solidFill>
              <a:srgbClr val="272E3E"/>
            </a:solidFill>
            <a:prstDash val="solid"/>
          </a:ln>
        </p:spPr>
      </p:sp>
      <p:sp>
        <p:nvSpPr>
          <p:cNvPr id="35" name="Shape 33"/>
          <p:cNvSpPr/>
          <p:nvPr/>
        </p:nvSpPr>
        <p:spPr>
          <a:xfrm>
            <a:off x="5004816" y="2514600"/>
            <a:ext cx="0" cy="822960"/>
          </a:xfrm>
          <a:prstGeom prst="line">
            <a:avLst/>
          </a:prstGeom>
          <a:noFill/>
          <a:ln w="25400">
            <a:solidFill>
              <a:srgbClr val="F5A623"/>
            </a:solidFill>
            <a:prstDash val="solid"/>
          </a:ln>
        </p:spPr>
      </p:sp>
      <p:sp>
        <p:nvSpPr>
          <p:cNvPr id="36" name="Shape 34"/>
          <p:cNvSpPr/>
          <p:nvPr/>
        </p:nvSpPr>
        <p:spPr>
          <a:xfrm>
            <a:off x="4920234" y="2430018"/>
            <a:ext cx="169164" cy="169164"/>
          </a:xfrm>
          <a:prstGeom prst="ellipse">
            <a:avLst/>
          </a:prstGeom>
          <a:solidFill>
            <a:srgbClr val="0A0C10"/>
          </a:solidFill>
          <a:ln w="31750">
            <a:solidFill>
              <a:srgbClr val="F5A623"/>
            </a:solidFill>
            <a:prstDash val="solid"/>
          </a:ln>
        </p:spPr>
      </p:sp>
      <p:sp>
        <p:nvSpPr>
          <p:cNvPr id="37" name="Shape 35"/>
          <p:cNvSpPr/>
          <p:nvPr/>
        </p:nvSpPr>
        <p:spPr>
          <a:xfrm>
            <a:off x="4920234" y="2704338"/>
            <a:ext cx="169164" cy="169164"/>
          </a:xfrm>
          <a:prstGeom prst="ellipse">
            <a:avLst/>
          </a:prstGeom>
          <a:solidFill>
            <a:srgbClr val="0A0C10"/>
          </a:solidFill>
          <a:ln w="31750">
            <a:solidFill>
              <a:srgbClr val="F5A623"/>
            </a:solidFill>
            <a:prstDash val="solid"/>
          </a:ln>
        </p:spPr>
      </p:sp>
      <p:sp>
        <p:nvSpPr>
          <p:cNvPr id="38" name="Shape 36"/>
          <p:cNvSpPr/>
          <p:nvPr/>
        </p:nvSpPr>
        <p:spPr>
          <a:xfrm>
            <a:off x="4920234" y="2978658"/>
            <a:ext cx="169164" cy="169164"/>
          </a:xfrm>
          <a:prstGeom prst="ellipse">
            <a:avLst/>
          </a:prstGeom>
          <a:solidFill>
            <a:srgbClr val="0A0C10"/>
          </a:solidFill>
          <a:ln w="31750">
            <a:solidFill>
              <a:srgbClr val="F5A623"/>
            </a:solidFill>
            <a:prstDash val="solid"/>
          </a:ln>
        </p:spPr>
      </p:sp>
      <p:sp>
        <p:nvSpPr>
          <p:cNvPr id="39" name="Shape 37"/>
          <p:cNvSpPr/>
          <p:nvPr/>
        </p:nvSpPr>
        <p:spPr>
          <a:xfrm>
            <a:off x="4920234" y="3252978"/>
            <a:ext cx="169164" cy="169164"/>
          </a:xfrm>
          <a:prstGeom prst="ellipse">
            <a:avLst/>
          </a:prstGeom>
          <a:solidFill>
            <a:srgbClr val="F5A623"/>
          </a:solidFill>
          <a:ln w="31750">
            <a:solidFill>
              <a:srgbClr val="F5A623"/>
            </a:solidFill>
            <a:prstDash val="solid"/>
          </a:ln>
        </p:spPr>
      </p:sp>
      <p:sp>
        <p:nvSpPr>
          <p:cNvPr id="40" name="Text 38"/>
          <p:cNvSpPr/>
          <p:nvPr/>
        </p:nvSpPr>
        <p:spPr>
          <a:xfrm>
            <a:off x="5977128" y="2532888"/>
            <a:ext cx="1600200" cy="274320"/>
          </a:xfrm>
          <a:prstGeom prst="rect">
            <a:avLst/>
          </a:prstGeom>
          <a:noFill/>
          <a:ln/>
        </p:spPr>
        <p:txBody>
          <a:bodyPr wrap="square" lIns="0" tIns="0" rIns="0" bIns="0" rtlCol="0" anchor="ctr"/>
          <a:lstStyle/>
          <a:p>
            <a:pPr algn="r" indent="0" marL="0">
              <a:buNone/>
            </a:pPr>
            <a:r>
              <a:rPr lang="en-US" sz="1100" b="1" spc="250" kern="0" dirty="0">
                <a:solidFill>
                  <a:srgbClr val="F5A623"/>
                </a:solidFill>
                <a:latin typeface="Courier New" pitchFamily="34" charset="0"/>
                <a:ea typeface="Courier New" pitchFamily="34" charset="-122"/>
                <a:cs typeface="Courier New" pitchFamily="34" charset="-120"/>
              </a:rPr>
              <a:t>BUSINESS</a:t>
            </a:r>
            <a:endParaRPr lang="en-US" sz="1100" dirty="0"/>
          </a:p>
        </p:txBody>
      </p:sp>
      <p:sp>
        <p:nvSpPr>
          <p:cNvPr id="41" name="Text 39"/>
          <p:cNvSpPr/>
          <p:nvPr/>
        </p:nvSpPr>
        <p:spPr>
          <a:xfrm>
            <a:off x="4748784" y="3520440"/>
            <a:ext cx="2691384" cy="457200"/>
          </a:xfrm>
          <a:prstGeom prst="rect">
            <a:avLst/>
          </a:prstGeom>
          <a:noFill/>
          <a:ln/>
        </p:spPr>
        <p:txBody>
          <a:bodyPr wrap="square" lIns="0" tIns="0" rIns="0" bIns="0" rtlCol="0" anchor="ctr"/>
          <a:lstStyle/>
          <a:p>
            <a:pPr indent="0" marL="0">
              <a:buNone/>
            </a:pPr>
            <a:r>
              <a:rPr lang="en-US" sz="2200" b="1" dirty="0">
                <a:solidFill>
                  <a:srgbClr val="F4F6F8"/>
                </a:solidFill>
                <a:latin typeface="Arial" pitchFamily="34" charset="0"/>
                <a:ea typeface="Arial" pitchFamily="34" charset="-122"/>
                <a:cs typeface="Arial" pitchFamily="34" charset="-120"/>
              </a:rPr>
              <a:t>Case file</a:t>
            </a:r>
            <a:endParaRPr lang="en-US" sz="2200" dirty="0"/>
          </a:p>
        </p:txBody>
      </p:sp>
      <p:sp>
        <p:nvSpPr>
          <p:cNvPr id="42" name="Text 40"/>
          <p:cNvSpPr/>
          <p:nvPr/>
        </p:nvSpPr>
        <p:spPr>
          <a:xfrm>
            <a:off x="4748784" y="4023360"/>
            <a:ext cx="2691384" cy="1051560"/>
          </a:xfrm>
          <a:prstGeom prst="rect">
            <a:avLst/>
          </a:prstGeom>
          <a:noFill/>
          <a:ln/>
        </p:spPr>
        <p:txBody>
          <a:bodyPr wrap="square" lIns="0" tIns="0" rIns="0" bIns="0" rtlCol="0" anchor="t"/>
          <a:lstStyle/>
          <a:p>
            <a:pPr indent="0" marL="0">
              <a:lnSpc>
                <a:spcPct val="112000"/>
              </a:lnSpc>
              <a:buNone/>
            </a:pPr>
            <a:r>
              <a:rPr lang="en-US" sz="1400" dirty="0">
                <a:solidFill>
                  <a:srgbClr val="9AA3B2"/>
                </a:solidFill>
                <a:latin typeface="Arial" pitchFamily="34" charset="0"/>
                <a:ea typeface="Arial" pitchFamily="34" charset="-122"/>
                <a:cs typeface="Arial" pitchFamily="34" charset="-120"/>
              </a:rPr>
              <a:t>Moves from desk to desk. Sometimes it just sits in an inbox over a long weekend, waiting for a person who isn't in yet.</a:t>
            </a:r>
            <a:endParaRPr lang="en-US" sz="1400" dirty="0"/>
          </a:p>
        </p:txBody>
      </p:sp>
      <p:sp>
        <p:nvSpPr>
          <p:cNvPr id="43" name="Shape 41"/>
          <p:cNvSpPr/>
          <p:nvPr/>
        </p:nvSpPr>
        <p:spPr>
          <a:xfrm>
            <a:off x="8125968" y="2148840"/>
            <a:ext cx="3422904" cy="3063240"/>
          </a:xfrm>
          <a:prstGeom prst="roundRect">
            <a:avLst>
              <a:gd name="adj" fmla="val 3284"/>
            </a:avLst>
          </a:prstGeom>
          <a:solidFill>
            <a:srgbClr val="141824"/>
          </a:solidFill>
          <a:ln w="12700">
            <a:solidFill>
              <a:srgbClr val="272E3E"/>
            </a:solidFill>
            <a:prstDash val="solid"/>
          </a:ln>
        </p:spPr>
      </p:sp>
      <p:sp>
        <p:nvSpPr>
          <p:cNvPr id="44" name="Shape 42"/>
          <p:cNvSpPr/>
          <p:nvPr/>
        </p:nvSpPr>
        <p:spPr>
          <a:xfrm flipV="1">
            <a:off x="8377428" y="2514600"/>
            <a:ext cx="370332" cy="411480"/>
          </a:xfrm>
          <a:prstGeom prst="line">
            <a:avLst/>
          </a:prstGeom>
          <a:noFill/>
          <a:ln w="25400">
            <a:solidFill>
              <a:srgbClr val="4ADE80"/>
            </a:solidFill>
            <a:prstDash val="solid"/>
          </a:ln>
        </p:spPr>
      </p:sp>
      <p:sp>
        <p:nvSpPr>
          <p:cNvPr id="45" name="Shape 43"/>
          <p:cNvSpPr/>
          <p:nvPr/>
        </p:nvSpPr>
        <p:spPr>
          <a:xfrm>
            <a:off x="8747760" y="2514600"/>
            <a:ext cx="370332" cy="411480"/>
          </a:xfrm>
          <a:prstGeom prst="line">
            <a:avLst/>
          </a:prstGeom>
          <a:noFill/>
          <a:ln w="25400">
            <a:solidFill>
              <a:srgbClr val="4ADE80"/>
            </a:solidFill>
            <a:prstDash val="solid"/>
          </a:ln>
        </p:spPr>
      </p:sp>
      <p:sp>
        <p:nvSpPr>
          <p:cNvPr id="46" name="Shape 44"/>
          <p:cNvSpPr/>
          <p:nvPr/>
        </p:nvSpPr>
        <p:spPr>
          <a:xfrm flipV="1">
            <a:off x="8214482" y="2926080"/>
            <a:ext cx="162946" cy="411480"/>
          </a:xfrm>
          <a:prstGeom prst="line">
            <a:avLst/>
          </a:prstGeom>
          <a:noFill/>
          <a:ln w="25400">
            <a:solidFill>
              <a:srgbClr val="4ADE80"/>
            </a:solidFill>
            <a:prstDash val="solid"/>
          </a:ln>
        </p:spPr>
      </p:sp>
      <p:sp>
        <p:nvSpPr>
          <p:cNvPr id="47" name="Shape 45"/>
          <p:cNvSpPr/>
          <p:nvPr/>
        </p:nvSpPr>
        <p:spPr>
          <a:xfrm>
            <a:off x="8377428" y="2926080"/>
            <a:ext cx="281452" cy="411480"/>
          </a:xfrm>
          <a:prstGeom prst="line">
            <a:avLst/>
          </a:prstGeom>
          <a:noFill/>
          <a:ln w="25400">
            <a:solidFill>
              <a:srgbClr val="4ADE80"/>
            </a:solidFill>
            <a:prstDash val="solid"/>
          </a:ln>
        </p:spPr>
      </p:sp>
      <p:sp>
        <p:nvSpPr>
          <p:cNvPr id="48" name="Shape 46"/>
          <p:cNvSpPr/>
          <p:nvPr/>
        </p:nvSpPr>
        <p:spPr>
          <a:xfrm>
            <a:off x="9118092" y="2926080"/>
            <a:ext cx="74066" cy="411480"/>
          </a:xfrm>
          <a:prstGeom prst="line">
            <a:avLst/>
          </a:prstGeom>
          <a:noFill/>
          <a:ln w="25400">
            <a:solidFill>
              <a:srgbClr val="4ADE80"/>
            </a:solidFill>
            <a:prstDash val="dash"/>
          </a:ln>
        </p:spPr>
      </p:sp>
      <p:sp>
        <p:nvSpPr>
          <p:cNvPr id="49" name="Shape 47"/>
          <p:cNvSpPr/>
          <p:nvPr/>
        </p:nvSpPr>
        <p:spPr>
          <a:xfrm>
            <a:off x="8663178" y="2430018"/>
            <a:ext cx="169164" cy="169164"/>
          </a:xfrm>
          <a:prstGeom prst="ellipse">
            <a:avLst/>
          </a:prstGeom>
          <a:solidFill>
            <a:srgbClr val="0A0C10"/>
          </a:solidFill>
          <a:ln w="31750">
            <a:solidFill>
              <a:srgbClr val="4ADE80"/>
            </a:solidFill>
            <a:prstDash val="solid"/>
          </a:ln>
        </p:spPr>
      </p:sp>
      <p:sp>
        <p:nvSpPr>
          <p:cNvPr id="50" name="Shape 48"/>
          <p:cNvSpPr/>
          <p:nvPr/>
        </p:nvSpPr>
        <p:spPr>
          <a:xfrm>
            <a:off x="8292846" y="2841498"/>
            <a:ext cx="169164" cy="169164"/>
          </a:xfrm>
          <a:prstGeom prst="ellipse">
            <a:avLst/>
          </a:prstGeom>
          <a:solidFill>
            <a:srgbClr val="0A0C10"/>
          </a:solidFill>
          <a:ln w="31750">
            <a:solidFill>
              <a:srgbClr val="4ADE80"/>
            </a:solidFill>
            <a:prstDash val="solid"/>
          </a:ln>
        </p:spPr>
      </p:sp>
      <p:sp>
        <p:nvSpPr>
          <p:cNvPr id="51" name="Shape 49"/>
          <p:cNvSpPr/>
          <p:nvPr/>
        </p:nvSpPr>
        <p:spPr>
          <a:xfrm>
            <a:off x="9033510" y="2841498"/>
            <a:ext cx="169164" cy="169164"/>
          </a:xfrm>
          <a:prstGeom prst="ellipse">
            <a:avLst/>
          </a:prstGeom>
          <a:solidFill>
            <a:srgbClr val="0A0C10"/>
          </a:solidFill>
          <a:ln w="31750">
            <a:solidFill>
              <a:srgbClr val="4ADE80"/>
            </a:solidFill>
            <a:prstDash val="solid"/>
          </a:ln>
        </p:spPr>
      </p:sp>
      <p:sp>
        <p:nvSpPr>
          <p:cNvPr id="52" name="Shape 50"/>
          <p:cNvSpPr/>
          <p:nvPr/>
        </p:nvSpPr>
        <p:spPr>
          <a:xfrm>
            <a:off x="8129900" y="3252978"/>
            <a:ext cx="169164" cy="169164"/>
          </a:xfrm>
          <a:prstGeom prst="ellipse">
            <a:avLst/>
          </a:prstGeom>
          <a:solidFill>
            <a:srgbClr val="0A0C10"/>
          </a:solidFill>
          <a:ln w="31750">
            <a:solidFill>
              <a:srgbClr val="4ADE80"/>
            </a:solidFill>
            <a:prstDash val="solid"/>
          </a:ln>
        </p:spPr>
      </p:sp>
      <p:sp>
        <p:nvSpPr>
          <p:cNvPr id="53" name="Shape 51"/>
          <p:cNvSpPr/>
          <p:nvPr/>
        </p:nvSpPr>
        <p:spPr>
          <a:xfrm>
            <a:off x="8574298" y="3252978"/>
            <a:ext cx="169164" cy="169164"/>
          </a:xfrm>
          <a:prstGeom prst="ellipse">
            <a:avLst/>
          </a:prstGeom>
          <a:solidFill>
            <a:srgbClr val="0A0C10"/>
          </a:solidFill>
          <a:ln w="31750">
            <a:solidFill>
              <a:srgbClr val="4ADE80"/>
            </a:solidFill>
            <a:prstDash val="solid"/>
          </a:ln>
        </p:spPr>
      </p:sp>
      <p:sp>
        <p:nvSpPr>
          <p:cNvPr id="54" name="Shape 52"/>
          <p:cNvSpPr/>
          <p:nvPr/>
        </p:nvSpPr>
        <p:spPr>
          <a:xfrm>
            <a:off x="9107576" y="3252978"/>
            <a:ext cx="169164" cy="169164"/>
          </a:xfrm>
          <a:prstGeom prst="ellipse">
            <a:avLst/>
          </a:prstGeom>
          <a:solidFill>
            <a:srgbClr val="0A0C10"/>
          </a:solidFill>
          <a:ln w="31750">
            <a:solidFill>
              <a:srgbClr val="4ADE80"/>
            </a:solidFill>
            <a:prstDash val="dash"/>
          </a:ln>
        </p:spPr>
      </p:sp>
      <p:sp>
        <p:nvSpPr>
          <p:cNvPr id="55" name="Text 53"/>
          <p:cNvSpPr/>
          <p:nvPr/>
        </p:nvSpPr>
        <p:spPr>
          <a:xfrm>
            <a:off x="9720072" y="2532888"/>
            <a:ext cx="1600200" cy="274320"/>
          </a:xfrm>
          <a:prstGeom prst="rect">
            <a:avLst/>
          </a:prstGeom>
          <a:noFill/>
          <a:ln/>
        </p:spPr>
        <p:txBody>
          <a:bodyPr wrap="square" lIns="0" tIns="0" rIns="0" bIns="0" rtlCol="0" anchor="ctr"/>
          <a:lstStyle/>
          <a:p>
            <a:pPr algn="r" indent="0" marL="0">
              <a:buNone/>
            </a:pPr>
            <a:r>
              <a:rPr lang="en-US" sz="1100" b="1" spc="250" kern="0" dirty="0">
                <a:solidFill>
                  <a:srgbClr val="4ADE80"/>
                </a:solidFill>
                <a:latin typeface="Courier New" pitchFamily="34" charset="0"/>
                <a:ea typeface="Courier New" pitchFamily="34" charset="-122"/>
                <a:cs typeface="Courier New" pitchFamily="34" charset="-120"/>
              </a:rPr>
              <a:t>AGENTIC</a:t>
            </a:r>
            <a:endParaRPr lang="en-US" sz="1100" dirty="0"/>
          </a:p>
        </p:txBody>
      </p:sp>
      <p:sp>
        <p:nvSpPr>
          <p:cNvPr id="56" name="Text 54"/>
          <p:cNvSpPr/>
          <p:nvPr/>
        </p:nvSpPr>
        <p:spPr>
          <a:xfrm>
            <a:off x="8491728" y="3520440"/>
            <a:ext cx="2691384" cy="457200"/>
          </a:xfrm>
          <a:prstGeom prst="rect">
            <a:avLst/>
          </a:prstGeom>
          <a:noFill/>
          <a:ln/>
        </p:spPr>
        <p:txBody>
          <a:bodyPr wrap="square" lIns="0" tIns="0" rIns="0" bIns="0" rtlCol="0" anchor="ctr"/>
          <a:lstStyle/>
          <a:p>
            <a:pPr indent="0" marL="0">
              <a:buNone/>
            </a:pPr>
            <a:r>
              <a:rPr lang="en-US" sz="2200" b="1" dirty="0">
                <a:solidFill>
                  <a:srgbClr val="F4F6F8"/>
                </a:solidFill>
                <a:latin typeface="Arial" pitchFamily="34" charset="0"/>
                <a:ea typeface="Arial" pitchFamily="34" charset="-122"/>
                <a:cs typeface="Arial" pitchFamily="34" charset="-120"/>
              </a:rPr>
              <a:t>Detective</a:t>
            </a:r>
            <a:endParaRPr lang="en-US" sz="2200" dirty="0"/>
          </a:p>
        </p:txBody>
      </p:sp>
      <p:sp>
        <p:nvSpPr>
          <p:cNvPr id="57" name="Text 55"/>
          <p:cNvSpPr/>
          <p:nvPr/>
        </p:nvSpPr>
        <p:spPr>
          <a:xfrm>
            <a:off x="8491728" y="4023360"/>
            <a:ext cx="2691384" cy="1051560"/>
          </a:xfrm>
          <a:prstGeom prst="rect">
            <a:avLst/>
          </a:prstGeom>
          <a:noFill/>
          <a:ln/>
        </p:spPr>
        <p:txBody>
          <a:bodyPr wrap="square" lIns="0" tIns="0" rIns="0" bIns="0" rtlCol="0" anchor="t"/>
          <a:lstStyle/>
          <a:p>
            <a:pPr indent="0" marL="0">
              <a:lnSpc>
                <a:spcPct val="112000"/>
              </a:lnSpc>
              <a:buNone/>
            </a:pPr>
            <a:r>
              <a:rPr lang="en-US" sz="1400" dirty="0">
                <a:solidFill>
                  <a:srgbClr val="9AA3B2"/>
                </a:solidFill>
                <a:latin typeface="Arial" pitchFamily="34" charset="0"/>
                <a:ea typeface="Arial" pitchFamily="34" charset="-122"/>
                <a:cs typeface="Arial" pitchFamily="34" charset="-120"/>
              </a:rPr>
              <a:t>No case plan on day one. What comes back from the third interview decides whether there's a fourth one at all.</a:t>
            </a:r>
            <a:endParaRPr lang="en-US" sz="1400" dirty="0"/>
          </a:p>
        </p:txBody>
      </p:sp>
      <p:sp>
        <p:nvSpPr>
          <p:cNvPr id="58" name="Text 56"/>
          <p:cNvSpPr/>
          <p:nvPr/>
        </p:nvSpPr>
        <p:spPr>
          <a:xfrm>
            <a:off x="640080" y="5532120"/>
            <a:ext cx="10881360" cy="54864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The shapes don't swap. </a:t>
            </a:r>
            <a:pPr indent="0" marL="0">
              <a:buNone/>
            </a:pPr>
            <a:r>
              <a:rPr lang="en-US" sz="1600" dirty="0">
                <a:solidFill>
                  <a:srgbClr val="9AA3B2"/>
                </a:solidFill>
                <a:latin typeface="Arial" pitchFamily="34" charset="0"/>
                <a:ea typeface="Arial" pitchFamily="34" charset="-122"/>
                <a:cs typeface="Arial" pitchFamily="34" charset="-120"/>
              </a:rPr>
              <a:t>Put a detective on a conveyor belt and it stops being deterministic.</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03 — THE MAP</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4 / 11</a:t>
            </a:r>
            <a:endParaRPr lang="en-US" sz="1000" dirty="0"/>
          </a:p>
        </p:txBody>
      </p:sp>
      <p:sp>
        <p:nvSpPr>
          <p:cNvPr id="23" name="Text 21"/>
          <p:cNvSpPr/>
          <p:nvPr/>
        </p:nvSpPr>
        <p:spPr>
          <a:xfrm>
            <a:off x="640080" y="804672"/>
            <a:ext cx="10789920" cy="1143000"/>
          </a:xfrm>
          <a:prstGeom prst="rect">
            <a:avLst/>
          </a:prstGeom>
          <a:noFill/>
          <a:ln/>
        </p:spPr>
        <p:txBody>
          <a:bodyPr wrap="square" lIns="0" tIns="0" rIns="0" bIns="0" rtlCol="0" anchor="ctr"/>
          <a:lstStyle/>
          <a:p>
            <a:pPr indent="0" marL="0">
              <a:lnSpc>
                <a:spcPct val="100000"/>
              </a:lnSpc>
              <a:buNone/>
            </a:pPr>
            <a:r>
              <a:rPr lang="en-US" sz="3200" b="1" dirty="0">
                <a:solidFill>
                  <a:srgbClr val="F4F6F8"/>
                </a:solidFill>
                <a:latin typeface="Arial" pitchFamily="34" charset="0"/>
                <a:ea typeface="Arial" pitchFamily="34" charset="-122"/>
                <a:cs typeface="Arial" pitchFamily="34" charset="-120"/>
              </a:rPr>
              <a:t>Four categories. Choosing one</a:t>
            </a:r>
            <a:endParaRPr lang="en-US" sz="3200" dirty="0"/>
          </a:p>
          <a:p>
            <a:pPr indent="0" marL="0">
              <a:lnSpc>
                <a:spcPct val="100000"/>
              </a:lnSpc>
              <a:buNone/>
            </a:pPr>
            <a:r>
              <a:rPr lang="en-US" sz="3200" b="1" dirty="0">
                <a:solidFill>
                  <a:srgbClr val="F4F6F8"/>
                </a:solidFill>
                <a:latin typeface="Arial" pitchFamily="34" charset="0"/>
                <a:ea typeface="Arial" pitchFamily="34" charset="-122"/>
                <a:cs typeface="Arial" pitchFamily="34" charset="-120"/>
              </a:rPr>
              <a:t>isn't a tool — it's a category.</a:t>
            </a:r>
            <a:endParaRPr lang="en-US" sz="3200" dirty="0"/>
          </a:p>
        </p:txBody>
      </p:sp>
      <p:sp>
        <p:nvSpPr>
          <p:cNvPr id="24" name="Text 22"/>
          <p:cNvSpPr/>
          <p:nvPr/>
        </p:nvSpPr>
        <p:spPr>
          <a:xfrm>
            <a:off x="960120" y="2331720"/>
            <a:ext cx="3200400" cy="274320"/>
          </a:xfrm>
          <a:prstGeom prst="rect">
            <a:avLst/>
          </a:prstGeom>
          <a:noFill/>
          <a:ln/>
        </p:spPr>
        <p:txBody>
          <a:bodyPr wrap="square" lIns="0" tIns="0" rIns="0" bIns="0" rtlCol="0" anchor="ctr"/>
          <a:lstStyle/>
          <a:p>
            <a:pPr indent="0" marL="0">
              <a:buNone/>
            </a:pPr>
            <a:r>
              <a:rPr lang="en-US" sz="1100" b="1" spc="150" kern="0" dirty="0">
                <a:solidFill>
                  <a:srgbClr val="6B7382"/>
                </a:solidFill>
                <a:latin typeface="Courier New" pitchFamily="34" charset="0"/>
                <a:ea typeface="Courier New" pitchFamily="34" charset="-122"/>
                <a:cs typeface="Courier New" pitchFamily="34" charset="-120"/>
              </a:rPr>
              <a:t>CATEGORY / ENGINE</a:t>
            </a:r>
            <a:endParaRPr lang="en-US" sz="1100" dirty="0"/>
          </a:p>
        </p:txBody>
      </p:sp>
      <p:sp>
        <p:nvSpPr>
          <p:cNvPr id="25" name="Text 23"/>
          <p:cNvSpPr/>
          <p:nvPr/>
        </p:nvSpPr>
        <p:spPr>
          <a:xfrm>
            <a:off x="4206240" y="2331720"/>
            <a:ext cx="3108960" cy="274320"/>
          </a:xfrm>
          <a:prstGeom prst="rect">
            <a:avLst/>
          </a:prstGeom>
          <a:noFill/>
          <a:ln/>
        </p:spPr>
        <p:txBody>
          <a:bodyPr wrap="square" lIns="0" tIns="0" rIns="0" bIns="0" rtlCol="0" anchor="ctr"/>
          <a:lstStyle/>
          <a:p>
            <a:pPr indent="0" marL="0">
              <a:buNone/>
            </a:pPr>
            <a:r>
              <a:rPr lang="en-US" sz="1100" b="1" spc="150" kern="0" dirty="0">
                <a:solidFill>
                  <a:srgbClr val="6B7382"/>
                </a:solidFill>
                <a:latin typeface="Courier New" pitchFamily="34" charset="0"/>
                <a:ea typeface="Courier New" pitchFamily="34" charset="-122"/>
                <a:cs typeface="Courier New" pitchFamily="34" charset="-120"/>
              </a:rPr>
              <a:t>THE UNIT OF WORK</a:t>
            </a:r>
            <a:endParaRPr lang="en-US" sz="1100" dirty="0"/>
          </a:p>
        </p:txBody>
      </p:sp>
      <p:sp>
        <p:nvSpPr>
          <p:cNvPr id="26" name="Text 24"/>
          <p:cNvSpPr/>
          <p:nvPr/>
        </p:nvSpPr>
        <p:spPr>
          <a:xfrm>
            <a:off x="7360920" y="2331720"/>
            <a:ext cx="3867912" cy="274320"/>
          </a:xfrm>
          <a:prstGeom prst="rect">
            <a:avLst/>
          </a:prstGeom>
          <a:noFill/>
          <a:ln/>
        </p:spPr>
        <p:txBody>
          <a:bodyPr wrap="square" lIns="0" tIns="0" rIns="0" bIns="0" rtlCol="0" anchor="ctr"/>
          <a:lstStyle/>
          <a:p>
            <a:pPr indent="0" marL="0">
              <a:buNone/>
            </a:pPr>
            <a:r>
              <a:rPr lang="en-US" sz="1100" b="1" spc="150" kern="0" dirty="0">
                <a:solidFill>
                  <a:srgbClr val="6B7382"/>
                </a:solidFill>
                <a:latin typeface="Courier New" pitchFamily="34" charset="0"/>
                <a:ea typeface="Courier New" pitchFamily="34" charset="-122"/>
                <a:cs typeface="Courier New" pitchFamily="34" charset="-120"/>
              </a:rPr>
              <a:t>THE HARD PART</a:t>
            </a:r>
            <a:endParaRPr lang="en-US" sz="1100" dirty="0"/>
          </a:p>
        </p:txBody>
      </p:sp>
      <p:sp>
        <p:nvSpPr>
          <p:cNvPr id="27" name="Shape 25"/>
          <p:cNvSpPr/>
          <p:nvPr/>
        </p:nvSpPr>
        <p:spPr>
          <a:xfrm>
            <a:off x="640080" y="2697480"/>
            <a:ext cx="10908792" cy="0"/>
          </a:xfrm>
          <a:prstGeom prst="line">
            <a:avLst/>
          </a:prstGeom>
          <a:noFill/>
          <a:ln w="9525">
            <a:solidFill>
              <a:srgbClr val="1D2331"/>
            </a:solidFill>
            <a:prstDash val="solid"/>
          </a:ln>
        </p:spPr>
      </p:sp>
      <p:sp>
        <p:nvSpPr>
          <p:cNvPr id="28" name="Shape 26"/>
          <p:cNvSpPr/>
          <p:nvPr/>
        </p:nvSpPr>
        <p:spPr>
          <a:xfrm>
            <a:off x="708660" y="2985516"/>
            <a:ext cx="137160" cy="137160"/>
          </a:xfrm>
          <a:prstGeom prst="ellipse">
            <a:avLst/>
          </a:prstGeom>
          <a:solidFill>
            <a:srgbClr val="F5A623"/>
          </a:solidFill>
          <a:ln w="12700">
            <a:solidFill>
              <a:srgbClr val="F5A623"/>
            </a:solidFill>
            <a:prstDash val="solid"/>
          </a:ln>
        </p:spPr>
      </p:sp>
      <p:sp>
        <p:nvSpPr>
          <p:cNvPr id="29" name="Text 27"/>
          <p:cNvSpPr/>
          <p:nvPr/>
        </p:nvSpPr>
        <p:spPr>
          <a:xfrm>
            <a:off x="960120" y="2697480"/>
            <a:ext cx="3200400" cy="749808"/>
          </a:xfrm>
          <a:prstGeom prst="rect">
            <a:avLst/>
          </a:prstGeom>
          <a:noFill/>
          <a:ln/>
        </p:spPr>
        <p:txBody>
          <a:bodyPr wrap="square" lIns="0" tIns="0" rIns="0" bIns="0" rtlCol="0" anchor="ctr"/>
          <a:lstStyle/>
          <a:p>
            <a:pPr indent="0" marL="0">
              <a:lnSpc>
                <a:spcPct val="105000"/>
              </a:lnSpc>
              <a:buNone/>
            </a:pPr>
            <a:r>
              <a:rPr lang="en-US" sz="1550" b="1" dirty="0">
                <a:solidFill>
                  <a:srgbClr val="F4F6F8"/>
                </a:solidFill>
                <a:latin typeface="Arial" pitchFamily="34" charset="0"/>
                <a:ea typeface="Arial" pitchFamily="34" charset="-122"/>
                <a:cs typeface="Arial" pitchFamily="34" charset="-120"/>
              </a:rPr>
              <a:t>Business process
</a:t>
            </a:r>
            <a:pPr indent="0" marL="0">
              <a:lnSpc>
                <a:spcPct val="105000"/>
              </a:lnSpc>
              <a:buNone/>
            </a:pPr>
            <a:r>
              <a:rPr lang="en-US" sz="1250" dirty="0">
                <a:solidFill>
                  <a:srgbClr val="F5A623"/>
                </a:solidFill>
                <a:latin typeface="Courier New" pitchFamily="34" charset="0"/>
                <a:ea typeface="Courier New" pitchFamily="34" charset="-122"/>
                <a:cs typeface="Courier New" pitchFamily="34" charset="-120"/>
              </a:rPr>
              <a:t>Camunda (BPMN)</a:t>
            </a:r>
            <a:endParaRPr lang="en-US" sz="1550" dirty="0"/>
          </a:p>
        </p:txBody>
      </p:sp>
      <p:sp>
        <p:nvSpPr>
          <p:cNvPr id="30" name="Text 28"/>
          <p:cNvSpPr/>
          <p:nvPr/>
        </p:nvSpPr>
        <p:spPr>
          <a:xfrm>
            <a:off x="4206240" y="2697480"/>
            <a:ext cx="3108960"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one process instance</a:t>
            </a:r>
            <a:endParaRPr lang="en-US" sz="1450" dirty="0"/>
          </a:p>
        </p:txBody>
      </p:sp>
      <p:sp>
        <p:nvSpPr>
          <p:cNvPr id="31" name="Text 29"/>
          <p:cNvSpPr/>
          <p:nvPr/>
        </p:nvSpPr>
        <p:spPr>
          <a:xfrm>
            <a:off x="7360920" y="2697480"/>
            <a:ext cx="3867912"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time, and people</a:t>
            </a:r>
            <a:endParaRPr lang="en-US" sz="1450" dirty="0"/>
          </a:p>
        </p:txBody>
      </p:sp>
      <p:sp>
        <p:nvSpPr>
          <p:cNvPr id="32" name="Shape 30"/>
          <p:cNvSpPr/>
          <p:nvPr/>
        </p:nvSpPr>
        <p:spPr>
          <a:xfrm>
            <a:off x="640080" y="3447288"/>
            <a:ext cx="10908792" cy="0"/>
          </a:xfrm>
          <a:prstGeom prst="line">
            <a:avLst/>
          </a:prstGeom>
          <a:noFill/>
          <a:ln w="9525">
            <a:solidFill>
              <a:srgbClr val="1D2331"/>
            </a:solidFill>
            <a:prstDash val="solid"/>
          </a:ln>
        </p:spPr>
      </p:sp>
      <p:sp>
        <p:nvSpPr>
          <p:cNvPr id="33" name="Shape 31"/>
          <p:cNvSpPr/>
          <p:nvPr/>
        </p:nvSpPr>
        <p:spPr>
          <a:xfrm>
            <a:off x="708660" y="3735324"/>
            <a:ext cx="137160" cy="137160"/>
          </a:xfrm>
          <a:prstGeom prst="ellipse">
            <a:avLst/>
          </a:prstGeom>
          <a:solidFill>
            <a:srgbClr val="2DD4BF"/>
          </a:solidFill>
          <a:ln w="12700">
            <a:solidFill>
              <a:srgbClr val="2DD4BF"/>
            </a:solidFill>
            <a:prstDash val="solid"/>
          </a:ln>
        </p:spPr>
      </p:sp>
      <p:sp>
        <p:nvSpPr>
          <p:cNvPr id="34" name="Text 32"/>
          <p:cNvSpPr/>
          <p:nvPr/>
        </p:nvSpPr>
        <p:spPr>
          <a:xfrm>
            <a:off x="960120" y="3447288"/>
            <a:ext cx="3200400" cy="749808"/>
          </a:xfrm>
          <a:prstGeom prst="rect">
            <a:avLst/>
          </a:prstGeom>
          <a:noFill/>
          <a:ln/>
        </p:spPr>
        <p:txBody>
          <a:bodyPr wrap="square" lIns="0" tIns="0" rIns="0" bIns="0" rtlCol="0" anchor="ctr"/>
          <a:lstStyle/>
          <a:p>
            <a:pPr indent="0" marL="0">
              <a:lnSpc>
                <a:spcPct val="105000"/>
              </a:lnSpc>
              <a:buNone/>
            </a:pPr>
            <a:r>
              <a:rPr lang="en-US" sz="1550" b="1" dirty="0">
                <a:solidFill>
                  <a:srgbClr val="F4F6F8"/>
                </a:solidFill>
                <a:latin typeface="Arial" pitchFamily="34" charset="0"/>
                <a:ea typeface="Arial" pitchFamily="34" charset="-122"/>
                <a:cs typeface="Arial" pitchFamily="34" charset="-120"/>
              </a:rPr>
              <a:t>Data ETL / ELT
</a:t>
            </a:r>
            <a:pPr indent="0" marL="0">
              <a:lnSpc>
                <a:spcPct val="105000"/>
              </a:lnSpc>
              <a:buNone/>
            </a:pPr>
            <a:r>
              <a:rPr lang="en-US" sz="1250" dirty="0">
                <a:solidFill>
                  <a:srgbClr val="2DD4BF"/>
                </a:solidFill>
                <a:latin typeface="Courier New" pitchFamily="34" charset="0"/>
                <a:ea typeface="Courier New" pitchFamily="34" charset="-122"/>
                <a:cs typeface="Courier New" pitchFamily="34" charset="-120"/>
              </a:rPr>
              <a:t>Airflow</a:t>
            </a:r>
            <a:endParaRPr lang="en-US" sz="1550" dirty="0"/>
          </a:p>
        </p:txBody>
      </p:sp>
      <p:sp>
        <p:nvSpPr>
          <p:cNvPr id="35" name="Text 33"/>
          <p:cNvSpPr/>
          <p:nvPr/>
        </p:nvSpPr>
        <p:spPr>
          <a:xfrm>
            <a:off x="4206240" y="3447288"/>
            <a:ext cx="3108960"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a dataset</a:t>
            </a:r>
            <a:endParaRPr lang="en-US" sz="1450" dirty="0"/>
          </a:p>
        </p:txBody>
      </p:sp>
      <p:sp>
        <p:nvSpPr>
          <p:cNvPr id="36" name="Text 34"/>
          <p:cNvSpPr/>
          <p:nvPr/>
        </p:nvSpPr>
        <p:spPr>
          <a:xfrm>
            <a:off x="7360920" y="3447288"/>
            <a:ext cx="3867912"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blast radius</a:t>
            </a:r>
            <a:endParaRPr lang="en-US" sz="1450" dirty="0"/>
          </a:p>
        </p:txBody>
      </p:sp>
      <p:sp>
        <p:nvSpPr>
          <p:cNvPr id="37" name="Shape 35"/>
          <p:cNvSpPr/>
          <p:nvPr/>
        </p:nvSpPr>
        <p:spPr>
          <a:xfrm>
            <a:off x="640080" y="4197096"/>
            <a:ext cx="10908792" cy="0"/>
          </a:xfrm>
          <a:prstGeom prst="line">
            <a:avLst/>
          </a:prstGeom>
          <a:noFill/>
          <a:ln w="9525">
            <a:solidFill>
              <a:srgbClr val="1D2331"/>
            </a:solidFill>
            <a:prstDash val="solid"/>
          </a:ln>
        </p:spPr>
      </p:sp>
      <p:sp>
        <p:nvSpPr>
          <p:cNvPr id="38" name="Shape 36"/>
          <p:cNvSpPr/>
          <p:nvPr/>
        </p:nvSpPr>
        <p:spPr>
          <a:xfrm>
            <a:off x="708660" y="4485132"/>
            <a:ext cx="137160" cy="137160"/>
          </a:xfrm>
          <a:prstGeom prst="ellipse">
            <a:avLst/>
          </a:prstGeom>
          <a:solidFill>
            <a:srgbClr val="A78BFA"/>
          </a:solidFill>
          <a:ln w="12700">
            <a:solidFill>
              <a:srgbClr val="A78BFA"/>
            </a:solidFill>
            <a:prstDash val="solid"/>
          </a:ln>
        </p:spPr>
      </p:sp>
      <p:sp>
        <p:nvSpPr>
          <p:cNvPr id="39" name="Text 37"/>
          <p:cNvSpPr/>
          <p:nvPr/>
        </p:nvSpPr>
        <p:spPr>
          <a:xfrm>
            <a:off x="960120" y="4197096"/>
            <a:ext cx="3200400" cy="749808"/>
          </a:xfrm>
          <a:prstGeom prst="rect">
            <a:avLst/>
          </a:prstGeom>
          <a:noFill/>
          <a:ln/>
        </p:spPr>
        <p:txBody>
          <a:bodyPr wrap="square" lIns="0" tIns="0" rIns="0" bIns="0" rtlCol="0" anchor="ctr"/>
          <a:lstStyle/>
          <a:p>
            <a:pPr indent="0" marL="0">
              <a:lnSpc>
                <a:spcPct val="105000"/>
              </a:lnSpc>
              <a:buNone/>
            </a:pPr>
            <a:r>
              <a:rPr lang="en-US" sz="1550" b="1" dirty="0">
                <a:solidFill>
                  <a:srgbClr val="F4F6F8"/>
                </a:solidFill>
                <a:latin typeface="Arial" pitchFamily="34" charset="0"/>
                <a:ea typeface="Arial" pitchFamily="34" charset="-122"/>
                <a:cs typeface="Arial" pitchFamily="34" charset="-120"/>
              </a:rPr>
              <a:t>Business + data
</a:t>
            </a:r>
            <a:pPr indent="0" marL="0">
              <a:lnSpc>
                <a:spcPct val="105000"/>
              </a:lnSpc>
              <a:buNone/>
            </a:pPr>
            <a:r>
              <a:rPr lang="en-US" sz="1250" dirty="0">
                <a:solidFill>
                  <a:srgbClr val="A78BFA"/>
                </a:solidFill>
                <a:latin typeface="Courier New" pitchFamily="34" charset="0"/>
                <a:ea typeface="Courier New" pitchFamily="34" charset="-122"/>
                <a:cs typeface="Courier New" pitchFamily="34" charset="-120"/>
              </a:rPr>
              <a:t>Kestra</a:t>
            </a:r>
            <a:endParaRPr lang="en-US" sz="1550" dirty="0"/>
          </a:p>
        </p:txBody>
      </p:sp>
      <p:sp>
        <p:nvSpPr>
          <p:cNvPr id="40" name="Text 38"/>
          <p:cNvSpPr/>
          <p:nvPr/>
        </p:nvSpPr>
        <p:spPr>
          <a:xfrm>
            <a:off x="4206240" y="4197096"/>
            <a:ext cx="3108960"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a pipeline with decisions in it</a:t>
            </a:r>
            <a:endParaRPr lang="en-US" sz="1450" dirty="0"/>
          </a:p>
        </p:txBody>
      </p:sp>
      <p:sp>
        <p:nvSpPr>
          <p:cNvPr id="41" name="Text 39"/>
          <p:cNvSpPr/>
          <p:nvPr/>
        </p:nvSpPr>
        <p:spPr>
          <a:xfrm>
            <a:off x="7360920" y="4197096"/>
            <a:ext cx="3867912"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who is allowed to write one</a:t>
            </a:r>
            <a:endParaRPr lang="en-US" sz="1450" dirty="0"/>
          </a:p>
        </p:txBody>
      </p:sp>
      <p:sp>
        <p:nvSpPr>
          <p:cNvPr id="42" name="Shape 40"/>
          <p:cNvSpPr/>
          <p:nvPr/>
        </p:nvSpPr>
        <p:spPr>
          <a:xfrm>
            <a:off x="640080" y="4946904"/>
            <a:ext cx="10908792" cy="0"/>
          </a:xfrm>
          <a:prstGeom prst="line">
            <a:avLst/>
          </a:prstGeom>
          <a:noFill/>
          <a:ln w="9525">
            <a:solidFill>
              <a:srgbClr val="1D2331"/>
            </a:solidFill>
            <a:prstDash val="solid"/>
          </a:ln>
        </p:spPr>
      </p:sp>
      <p:sp>
        <p:nvSpPr>
          <p:cNvPr id="43" name="Shape 41"/>
          <p:cNvSpPr/>
          <p:nvPr/>
        </p:nvSpPr>
        <p:spPr>
          <a:xfrm>
            <a:off x="708660" y="5234940"/>
            <a:ext cx="137160" cy="137160"/>
          </a:xfrm>
          <a:prstGeom prst="ellipse">
            <a:avLst/>
          </a:prstGeom>
          <a:solidFill>
            <a:srgbClr val="4ADE80"/>
          </a:solidFill>
          <a:ln w="12700">
            <a:solidFill>
              <a:srgbClr val="4ADE80"/>
            </a:solidFill>
            <a:prstDash val="solid"/>
          </a:ln>
        </p:spPr>
      </p:sp>
      <p:sp>
        <p:nvSpPr>
          <p:cNvPr id="44" name="Text 42"/>
          <p:cNvSpPr/>
          <p:nvPr/>
        </p:nvSpPr>
        <p:spPr>
          <a:xfrm>
            <a:off x="960120" y="4946904"/>
            <a:ext cx="3200400" cy="749808"/>
          </a:xfrm>
          <a:prstGeom prst="rect">
            <a:avLst/>
          </a:prstGeom>
          <a:noFill/>
          <a:ln/>
        </p:spPr>
        <p:txBody>
          <a:bodyPr wrap="square" lIns="0" tIns="0" rIns="0" bIns="0" rtlCol="0" anchor="ctr"/>
          <a:lstStyle/>
          <a:p>
            <a:pPr indent="0" marL="0">
              <a:lnSpc>
                <a:spcPct val="105000"/>
              </a:lnSpc>
              <a:buNone/>
            </a:pPr>
            <a:r>
              <a:rPr lang="en-US" sz="1550" b="1" dirty="0">
                <a:solidFill>
                  <a:srgbClr val="F4F6F8"/>
                </a:solidFill>
                <a:latin typeface="Arial" pitchFamily="34" charset="0"/>
                <a:ea typeface="Arial" pitchFamily="34" charset="-122"/>
                <a:cs typeface="Arial" pitchFamily="34" charset="-120"/>
              </a:rPr>
              <a:t>Agentic
</a:t>
            </a:r>
            <a:pPr indent="0" marL="0">
              <a:lnSpc>
                <a:spcPct val="105000"/>
              </a:lnSpc>
              <a:buNone/>
            </a:pPr>
            <a:r>
              <a:rPr lang="en-US" sz="1250" dirty="0">
                <a:solidFill>
                  <a:srgbClr val="4ADE80"/>
                </a:solidFill>
                <a:latin typeface="Courier New" pitchFamily="34" charset="0"/>
                <a:ea typeface="Courier New" pitchFamily="34" charset="-122"/>
                <a:cs typeface="Courier New" pitchFamily="34" charset="-120"/>
              </a:rPr>
              <a:t>LangChain / LangGraph</a:t>
            </a:r>
            <a:endParaRPr lang="en-US" sz="1550" dirty="0"/>
          </a:p>
        </p:txBody>
      </p:sp>
      <p:sp>
        <p:nvSpPr>
          <p:cNvPr id="45" name="Text 43"/>
          <p:cNvSpPr/>
          <p:nvPr/>
        </p:nvSpPr>
        <p:spPr>
          <a:xfrm>
            <a:off x="4206240" y="4946904"/>
            <a:ext cx="3108960"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a goal</a:t>
            </a:r>
            <a:endParaRPr lang="en-US" sz="1450" dirty="0"/>
          </a:p>
        </p:txBody>
      </p:sp>
      <p:sp>
        <p:nvSpPr>
          <p:cNvPr id="46" name="Text 44"/>
          <p:cNvSpPr/>
          <p:nvPr/>
        </p:nvSpPr>
        <p:spPr>
          <a:xfrm>
            <a:off x="7360920" y="4946904"/>
            <a:ext cx="3867912" cy="749808"/>
          </a:xfrm>
          <a:prstGeom prst="rect">
            <a:avLst/>
          </a:prstGeom>
          <a:noFill/>
          <a:ln/>
        </p:spPr>
        <p:txBody>
          <a:bodyPr wrap="square" lIns="0" tIns="0" rIns="0" bIns="0" rtlCol="0" anchor="ctr"/>
          <a:lstStyle/>
          <a:p>
            <a:pPr indent="0" marL="0">
              <a:buNone/>
            </a:pPr>
            <a:r>
              <a:rPr lang="en-US" sz="1450" dirty="0">
                <a:solidFill>
                  <a:srgbClr val="9AA3B2"/>
                </a:solidFill>
                <a:latin typeface="Arial" pitchFamily="34" charset="0"/>
                <a:ea typeface="Arial" pitchFamily="34" charset="-122"/>
                <a:cs typeface="Arial" pitchFamily="34" charset="-120"/>
              </a:rPr>
              <a:t>the plan doesn't exist yet</a:t>
            </a:r>
            <a:endParaRPr lang="en-US" sz="1450" dirty="0"/>
          </a:p>
        </p:txBody>
      </p:sp>
      <p:sp>
        <p:nvSpPr>
          <p:cNvPr id="47" name="Shape 45"/>
          <p:cNvSpPr/>
          <p:nvPr/>
        </p:nvSpPr>
        <p:spPr>
          <a:xfrm>
            <a:off x="640080" y="5696712"/>
            <a:ext cx="10908792" cy="0"/>
          </a:xfrm>
          <a:prstGeom prst="line">
            <a:avLst/>
          </a:prstGeom>
          <a:noFill/>
          <a:ln w="9525">
            <a:solidFill>
              <a:srgbClr val="1D2331"/>
            </a:solidFill>
            <a:prstDash val="solid"/>
          </a:ln>
        </p:spPr>
      </p:sp>
      <p:sp>
        <p:nvSpPr>
          <p:cNvPr id="48" name="Text 46"/>
          <p:cNvSpPr/>
          <p:nvPr/>
        </p:nvSpPr>
        <p:spPr>
          <a:xfrm>
            <a:off x="640080" y="5806440"/>
            <a:ext cx="10881360" cy="457200"/>
          </a:xfrm>
          <a:prstGeom prst="rect">
            <a:avLst/>
          </a:prstGeom>
          <a:noFill/>
          <a:ln/>
        </p:spPr>
        <p:txBody>
          <a:bodyPr wrap="square" lIns="0" tIns="0" rIns="0" bIns="0" rtlCol="0" anchor="ctr"/>
          <a:lstStyle/>
          <a:p>
            <a:pPr indent="0" marL="0">
              <a:buNone/>
            </a:pPr>
            <a:r>
              <a:rPr lang="en-US" sz="1400" dirty="0">
                <a:solidFill>
                  <a:srgbClr val="9AA3B2"/>
                </a:solidFill>
                <a:latin typeface="Arial" pitchFamily="34" charset="0"/>
                <a:ea typeface="Arial" pitchFamily="34" charset="-122"/>
                <a:cs typeface="Arial" pitchFamily="34" charset="-120"/>
              </a:rPr>
              <a:t>Each engine is just one that fits its row — </a:t>
            </a:r>
            <a:pPr indent="0" marL="0">
              <a:buNone/>
            </a:pPr>
            <a:r>
              <a:rPr lang="en-US" sz="1400" dirty="0">
                <a:solidFill>
                  <a:srgbClr val="F4F6F8"/>
                </a:solidFill>
                <a:latin typeface="Arial" pitchFamily="34" charset="0"/>
                <a:ea typeface="Arial" pitchFamily="34" charset="-122"/>
                <a:cs typeface="Arial" pitchFamily="34" charset="-120"/>
              </a:rPr>
              <a:t>Temporal, Prefect, Dagster, n8n, CrewAI</a:t>
            </a:r>
            <a:pPr indent="0" marL="0">
              <a:buNone/>
            </a:pPr>
            <a:r>
              <a:rPr lang="en-US" sz="1400" dirty="0">
                <a:solidFill>
                  <a:srgbClr val="9AA3B2"/>
                </a:solidFill>
                <a:latin typeface="Arial" pitchFamily="34" charset="0"/>
                <a:ea typeface="Arial" pitchFamily="34" charset="-122"/>
                <a:cs typeface="Arial" pitchFamily="34" charset="-120"/>
              </a:rPr>
              <a:t> fit too. The category is the point, not the tool.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04 — BUSINESS PROCESS</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5 / 11</a:t>
            </a:r>
            <a:endParaRPr lang="en-US" sz="1000" dirty="0"/>
          </a:p>
        </p:txBody>
      </p:sp>
      <p:sp>
        <p:nvSpPr>
          <p:cNvPr id="23" name="Shape 21"/>
          <p:cNvSpPr/>
          <p:nvPr/>
        </p:nvSpPr>
        <p:spPr>
          <a:xfrm>
            <a:off x="960120" y="713232"/>
            <a:ext cx="0" cy="914400"/>
          </a:xfrm>
          <a:prstGeom prst="line">
            <a:avLst/>
          </a:prstGeom>
          <a:noFill/>
          <a:ln w="25400">
            <a:solidFill>
              <a:srgbClr val="F5A623"/>
            </a:solidFill>
            <a:prstDash val="solid"/>
          </a:ln>
        </p:spPr>
      </p:sp>
      <p:sp>
        <p:nvSpPr>
          <p:cNvPr id="24" name="Shape 22"/>
          <p:cNvSpPr/>
          <p:nvPr/>
        </p:nvSpPr>
        <p:spPr>
          <a:xfrm>
            <a:off x="875538" y="628650"/>
            <a:ext cx="169164" cy="169164"/>
          </a:xfrm>
          <a:prstGeom prst="ellipse">
            <a:avLst/>
          </a:prstGeom>
          <a:solidFill>
            <a:srgbClr val="0A0C10"/>
          </a:solidFill>
          <a:ln w="31750">
            <a:solidFill>
              <a:srgbClr val="F5A623"/>
            </a:solidFill>
            <a:prstDash val="solid"/>
          </a:ln>
        </p:spPr>
      </p:sp>
      <p:sp>
        <p:nvSpPr>
          <p:cNvPr id="25" name="Shape 23"/>
          <p:cNvSpPr/>
          <p:nvPr/>
        </p:nvSpPr>
        <p:spPr>
          <a:xfrm>
            <a:off x="875538" y="933450"/>
            <a:ext cx="169164" cy="169164"/>
          </a:xfrm>
          <a:prstGeom prst="ellipse">
            <a:avLst/>
          </a:prstGeom>
          <a:solidFill>
            <a:srgbClr val="0A0C10"/>
          </a:solidFill>
          <a:ln w="31750">
            <a:solidFill>
              <a:srgbClr val="F5A623"/>
            </a:solidFill>
            <a:prstDash val="solid"/>
          </a:ln>
        </p:spPr>
      </p:sp>
      <p:sp>
        <p:nvSpPr>
          <p:cNvPr id="26" name="Shape 24"/>
          <p:cNvSpPr/>
          <p:nvPr/>
        </p:nvSpPr>
        <p:spPr>
          <a:xfrm>
            <a:off x="875538" y="1238250"/>
            <a:ext cx="169164" cy="169164"/>
          </a:xfrm>
          <a:prstGeom prst="ellipse">
            <a:avLst/>
          </a:prstGeom>
          <a:solidFill>
            <a:srgbClr val="0A0C10"/>
          </a:solidFill>
          <a:ln w="31750">
            <a:solidFill>
              <a:srgbClr val="F5A623"/>
            </a:solidFill>
            <a:prstDash val="solid"/>
          </a:ln>
        </p:spPr>
      </p:sp>
      <p:sp>
        <p:nvSpPr>
          <p:cNvPr id="27" name="Shape 25"/>
          <p:cNvSpPr/>
          <p:nvPr/>
        </p:nvSpPr>
        <p:spPr>
          <a:xfrm>
            <a:off x="875538" y="1543050"/>
            <a:ext cx="169164" cy="169164"/>
          </a:xfrm>
          <a:prstGeom prst="ellipse">
            <a:avLst/>
          </a:prstGeom>
          <a:solidFill>
            <a:srgbClr val="F5A623"/>
          </a:solidFill>
          <a:ln w="31750">
            <a:solidFill>
              <a:srgbClr val="F5A623"/>
            </a:solidFill>
            <a:prstDash val="solid"/>
          </a:ln>
        </p:spPr>
      </p:sp>
      <p:sp>
        <p:nvSpPr>
          <p:cNvPr id="28" name="Text 26"/>
          <p:cNvSpPr/>
          <p:nvPr/>
        </p:nvSpPr>
        <p:spPr>
          <a:xfrm>
            <a:off x="1554480" y="749808"/>
            <a:ext cx="7315200" cy="640080"/>
          </a:xfrm>
          <a:prstGeom prst="rect">
            <a:avLst/>
          </a:prstGeom>
          <a:noFill/>
          <a:ln/>
        </p:spPr>
        <p:txBody>
          <a:bodyPr wrap="square" lIns="0" tIns="0" rIns="0" bIns="0" rtlCol="0" anchor="ctr"/>
          <a:lstStyle/>
          <a:p>
            <a:pPr indent="0" marL="0">
              <a:buNone/>
            </a:pPr>
            <a:r>
              <a:rPr lang="en-US" sz="3400" b="1" dirty="0">
                <a:solidFill>
                  <a:srgbClr val="F4F6F8"/>
                </a:solidFill>
                <a:latin typeface="Arial" pitchFamily="34" charset="0"/>
                <a:ea typeface="Arial" pitchFamily="34" charset="-122"/>
                <a:cs typeface="Arial" pitchFamily="34" charset="-120"/>
              </a:rPr>
              <a:t>The case file.</a:t>
            </a:r>
            <a:endParaRPr lang="en-US" sz="3400" dirty="0"/>
          </a:p>
        </p:txBody>
      </p:sp>
      <p:sp>
        <p:nvSpPr>
          <p:cNvPr id="29" name="Text 27"/>
          <p:cNvSpPr/>
          <p:nvPr/>
        </p:nvSpPr>
        <p:spPr>
          <a:xfrm>
            <a:off x="1554480" y="1389888"/>
            <a:ext cx="9601200" cy="365760"/>
          </a:xfrm>
          <a:prstGeom prst="rect">
            <a:avLst/>
          </a:prstGeom>
          <a:noFill/>
          <a:ln/>
        </p:spPr>
        <p:txBody>
          <a:bodyPr wrap="square" lIns="0" tIns="0" rIns="0" bIns="0" rtlCol="0" anchor="ctr"/>
          <a:lstStyle/>
          <a:p>
            <a:pPr indent="0" marL="0">
              <a:buNone/>
            </a:pPr>
            <a:r>
              <a:rPr lang="en-US" sz="1500" dirty="0">
                <a:solidFill>
                  <a:srgbClr val="9AA3B2"/>
                </a:solidFill>
                <a:latin typeface="Arial" pitchFamily="34" charset="0"/>
                <a:ea typeface="Arial" pitchFamily="34" charset="-122"/>
                <a:cs typeface="Arial" pitchFamily="34" charset="-120"/>
              </a:rPr>
              <a:t>One refund. One onboarding. One claim. The hard part isn't compute — it's time, and people.</a:t>
            </a:r>
            <a:endParaRPr lang="en-US" sz="1500" dirty="0"/>
          </a:p>
        </p:txBody>
      </p:sp>
      <p:sp>
        <p:nvSpPr>
          <p:cNvPr id="30" name="Shape 28"/>
          <p:cNvSpPr/>
          <p:nvPr/>
        </p:nvSpPr>
        <p:spPr>
          <a:xfrm>
            <a:off x="640080" y="2148840"/>
            <a:ext cx="4572000" cy="3108960"/>
          </a:xfrm>
          <a:prstGeom prst="roundRect">
            <a:avLst>
              <a:gd name="adj" fmla="val 3235"/>
            </a:avLst>
          </a:prstGeom>
          <a:solidFill>
            <a:srgbClr val="10131C"/>
          </a:solidFill>
          <a:ln w="12700">
            <a:solidFill>
              <a:srgbClr val="272E3E"/>
            </a:solidFill>
            <a:prstDash val="solid"/>
          </a:ln>
        </p:spPr>
      </p:sp>
      <p:sp>
        <p:nvSpPr>
          <p:cNvPr id="31" name="Text 29"/>
          <p:cNvSpPr/>
          <p:nvPr/>
        </p:nvSpPr>
        <p:spPr>
          <a:xfrm>
            <a:off x="1005840" y="2468880"/>
            <a:ext cx="3840480" cy="27432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THE TEST</a:t>
            </a:r>
            <a:endParaRPr lang="en-US" sz="1200" dirty="0"/>
          </a:p>
        </p:txBody>
      </p:sp>
      <p:sp>
        <p:nvSpPr>
          <p:cNvPr id="32" name="Text 30"/>
          <p:cNvSpPr/>
          <p:nvPr/>
        </p:nvSpPr>
        <p:spPr>
          <a:xfrm>
            <a:off x="1005840" y="2880360"/>
            <a:ext cx="3840480" cy="1188720"/>
          </a:xfrm>
          <a:prstGeom prst="rect">
            <a:avLst/>
          </a:prstGeom>
          <a:noFill/>
          <a:ln/>
        </p:spPr>
        <p:txBody>
          <a:bodyPr wrap="square" lIns="0" tIns="0" rIns="0" bIns="0" rtlCol="0" anchor="ctr"/>
          <a:lstStyle/>
          <a:p>
            <a:pPr indent="0" marL="0">
              <a:lnSpc>
                <a:spcPct val="108000"/>
              </a:lnSpc>
              <a:buNone/>
            </a:pPr>
            <a:r>
              <a:rPr lang="en-US" sz="2000" b="1" dirty="0">
                <a:solidFill>
                  <a:srgbClr val="F4F6F8"/>
                </a:solidFill>
                <a:latin typeface="Arial" pitchFamily="34" charset="0"/>
                <a:ea typeface="Arial" pitchFamily="34" charset="-122"/>
                <a:cs typeface="Arial" pitchFamily="34" charset="-120"/>
              </a:rPr>
              <a:t>Does a run suspend in the middle, wait on a human for three days, then pick up exactly where it left off?</a:t>
            </a:r>
            <a:endParaRPr lang="en-US" sz="2000" dirty="0"/>
          </a:p>
        </p:txBody>
      </p:sp>
      <p:sp>
        <p:nvSpPr>
          <p:cNvPr id="33" name="Text 31"/>
          <p:cNvSpPr/>
          <p:nvPr/>
        </p:nvSpPr>
        <p:spPr>
          <a:xfrm>
            <a:off x="1005840" y="4297680"/>
            <a:ext cx="3840480" cy="868680"/>
          </a:xfrm>
          <a:prstGeom prst="rect">
            <a:avLst/>
          </a:prstGeom>
          <a:noFill/>
          <a:ln/>
        </p:spPr>
        <p:txBody>
          <a:bodyPr wrap="square" lIns="0" tIns="0" rIns="0" bIns="0" rtlCol="0" anchor="ctr"/>
          <a:lstStyle/>
          <a:p>
            <a:pPr indent="0" marL="0">
              <a:lnSpc>
                <a:spcPct val="115000"/>
              </a:lnSpc>
              <a:buNone/>
            </a:pPr>
            <a:r>
              <a:rPr lang="en-US" sz="1400" dirty="0">
                <a:solidFill>
                  <a:srgbClr val="9AA3B2"/>
                </a:solidFill>
                <a:latin typeface="Arial" pitchFamily="34" charset="0"/>
                <a:ea typeface="Arial" pitchFamily="34" charset="-122"/>
                <a:cs typeface="Arial" pitchFamily="34" charset="-120"/>
              </a:rPr>
              <a:t>If yes, you're here. Not a crash — a pause you can't take back, with real-world side effects already committed.</a:t>
            </a:r>
            <a:endParaRPr lang="en-US" sz="1400" dirty="0"/>
          </a:p>
        </p:txBody>
      </p:sp>
      <p:sp>
        <p:nvSpPr>
          <p:cNvPr id="34" name="Shape 32"/>
          <p:cNvSpPr/>
          <p:nvPr/>
        </p:nvSpPr>
        <p:spPr>
          <a:xfrm>
            <a:off x="5532120" y="2148840"/>
            <a:ext cx="6016752" cy="1417320"/>
          </a:xfrm>
          <a:prstGeom prst="roundRect">
            <a:avLst>
              <a:gd name="adj" fmla="val 7097"/>
            </a:avLst>
          </a:prstGeom>
          <a:solidFill>
            <a:srgbClr val="141824"/>
          </a:solidFill>
          <a:ln w="12700">
            <a:solidFill>
              <a:srgbClr val="272E3E"/>
            </a:solidFill>
            <a:prstDash val="solid"/>
          </a:ln>
        </p:spPr>
      </p:sp>
      <p:sp>
        <p:nvSpPr>
          <p:cNvPr id="35" name="Text 33"/>
          <p:cNvSpPr/>
          <p:nvPr/>
        </p:nvSpPr>
        <p:spPr>
          <a:xfrm>
            <a:off x="5897880" y="2404872"/>
            <a:ext cx="5285232" cy="411480"/>
          </a:xfrm>
          <a:prstGeom prst="rect">
            <a:avLst/>
          </a:prstGeom>
          <a:noFill/>
          <a:ln/>
        </p:spPr>
        <p:txBody>
          <a:bodyPr wrap="square" lIns="0" tIns="0" rIns="0" bIns="0" rtlCol="0" anchor="ctr"/>
          <a:lstStyle/>
          <a:p>
            <a:pPr indent="0" marL="0">
              <a:buNone/>
            </a:pPr>
            <a:r>
              <a:rPr lang="en-US" sz="1800" b="1" dirty="0">
                <a:solidFill>
                  <a:srgbClr val="F4F6F8"/>
                </a:solidFill>
                <a:latin typeface="Arial" pitchFamily="34" charset="0"/>
                <a:ea typeface="Arial" pitchFamily="34" charset="-122"/>
                <a:cs typeface="Arial" pitchFamily="34" charset="-120"/>
              </a:rPr>
              <a:t>Compensation, not retry</a:t>
            </a:r>
            <a:endParaRPr lang="en-US" sz="1800" dirty="0"/>
          </a:p>
        </p:txBody>
      </p:sp>
      <p:sp>
        <p:nvSpPr>
          <p:cNvPr id="36" name="Text 34"/>
          <p:cNvSpPr/>
          <p:nvPr/>
        </p:nvSpPr>
        <p:spPr>
          <a:xfrm>
            <a:off x="5897880" y="2862072"/>
            <a:ext cx="5285232" cy="502920"/>
          </a:xfrm>
          <a:prstGeom prst="rect">
            <a:avLst/>
          </a:prstGeom>
          <a:noFill/>
          <a:ln/>
        </p:spPr>
        <p:txBody>
          <a:bodyPr wrap="square" lIns="0" tIns="0" rIns="0" bIns="0" rtlCol="0" anchor="t"/>
          <a:lstStyle/>
          <a:p>
            <a:pPr indent="0" marL="0">
              <a:lnSpc>
                <a:spcPct val="112000"/>
              </a:lnSpc>
              <a:buNone/>
            </a:pPr>
            <a:r>
              <a:rPr lang="en-US" sz="1350" dirty="0">
                <a:solidFill>
                  <a:srgbClr val="9AA3B2"/>
                </a:solidFill>
                <a:latin typeface="Arial" pitchFamily="34" charset="0"/>
                <a:ea typeface="Arial" pitchFamily="34" charset="-122"/>
                <a:cs typeface="Arial" pitchFamily="34" charset="-120"/>
              </a:rPr>
              <a:t>You don't retry a refund you already issued — you reverse it. BPMN builds undoing in as first-class, because it was modelling banks, not batch jobs.</a:t>
            </a:r>
            <a:endParaRPr lang="en-US" sz="1350" dirty="0"/>
          </a:p>
        </p:txBody>
      </p:sp>
      <p:sp>
        <p:nvSpPr>
          <p:cNvPr id="37" name="Shape 35"/>
          <p:cNvSpPr/>
          <p:nvPr/>
        </p:nvSpPr>
        <p:spPr>
          <a:xfrm>
            <a:off x="5532120" y="3840480"/>
            <a:ext cx="6016752" cy="1417320"/>
          </a:xfrm>
          <a:prstGeom prst="roundRect">
            <a:avLst>
              <a:gd name="adj" fmla="val 7097"/>
            </a:avLst>
          </a:prstGeom>
          <a:solidFill>
            <a:srgbClr val="141824"/>
          </a:solidFill>
          <a:ln w="12700">
            <a:solidFill>
              <a:srgbClr val="272E3E"/>
            </a:solidFill>
            <a:prstDash val="solid"/>
          </a:ln>
        </p:spPr>
      </p:sp>
      <p:sp>
        <p:nvSpPr>
          <p:cNvPr id="38" name="Text 36"/>
          <p:cNvSpPr/>
          <p:nvPr/>
        </p:nvSpPr>
        <p:spPr>
          <a:xfrm>
            <a:off x="5897880" y="4096512"/>
            <a:ext cx="5285232" cy="411480"/>
          </a:xfrm>
          <a:prstGeom prst="rect">
            <a:avLst/>
          </a:prstGeom>
          <a:noFill/>
          <a:ln/>
        </p:spPr>
        <p:txBody>
          <a:bodyPr wrap="square" lIns="0" tIns="0" rIns="0" bIns="0" rtlCol="0" anchor="ctr"/>
          <a:lstStyle/>
          <a:p>
            <a:pPr indent="0" marL="0">
              <a:buNone/>
            </a:pPr>
            <a:r>
              <a:rPr lang="en-US" sz="1800" b="1" dirty="0">
                <a:solidFill>
                  <a:srgbClr val="F4F6F8"/>
                </a:solidFill>
                <a:latin typeface="Arial" pitchFamily="34" charset="0"/>
                <a:ea typeface="Arial" pitchFamily="34" charset="-122"/>
                <a:cs typeface="Arial" pitchFamily="34" charset="-120"/>
              </a:rPr>
              <a:t>You choose where it lives</a:t>
            </a:r>
            <a:endParaRPr lang="en-US" sz="1800" dirty="0"/>
          </a:p>
        </p:txBody>
      </p:sp>
      <p:sp>
        <p:nvSpPr>
          <p:cNvPr id="39" name="Text 37"/>
          <p:cNvSpPr/>
          <p:nvPr/>
        </p:nvSpPr>
        <p:spPr>
          <a:xfrm>
            <a:off x="5897880" y="4553712"/>
            <a:ext cx="5285232" cy="502920"/>
          </a:xfrm>
          <a:prstGeom prst="rect">
            <a:avLst/>
          </a:prstGeom>
          <a:noFill/>
          <a:ln/>
        </p:spPr>
        <p:txBody>
          <a:bodyPr wrap="square" lIns="0" tIns="0" rIns="0" bIns="0" rtlCol="0" anchor="t"/>
          <a:lstStyle/>
          <a:p>
            <a:pPr indent="0" marL="0">
              <a:lnSpc>
                <a:spcPct val="112000"/>
              </a:lnSpc>
              <a:buNone/>
            </a:pPr>
            <a:r>
              <a:rPr lang="en-US" sz="1350" dirty="0">
                <a:solidFill>
                  <a:srgbClr val="9AA3B2"/>
                </a:solidFill>
                <a:latin typeface="Arial" pitchFamily="34" charset="0"/>
                <a:ea typeface="Arial" pitchFamily="34" charset="-122"/>
                <a:cs typeface="Arial" pitchFamily="34" charset="-120"/>
              </a:rPr>
              <a:t>Self-manage the engine inside your boundary so process state never leaves your walls (Zeebe). Why the case studies read like a roster of banks, insurers, telcos and governments.</a:t>
            </a:r>
            <a:endParaRPr lang="en-US" sz="1350" dirty="0"/>
          </a:p>
        </p:txBody>
      </p:sp>
      <p:sp>
        <p:nvSpPr>
          <p:cNvPr id="40" name="Text 38"/>
          <p:cNvSpPr/>
          <p:nvPr/>
        </p:nvSpPr>
        <p:spPr>
          <a:xfrm>
            <a:off x="640080" y="5486400"/>
            <a:ext cx="10881360" cy="502920"/>
          </a:xfrm>
          <a:prstGeom prst="rect">
            <a:avLst/>
          </a:prstGeom>
          <a:noFill/>
          <a:ln/>
        </p:spPr>
        <p:txBody>
          <a:bodyPr wrap="square" lIns="0" tIns="0" rIns="0" bIns="0" rtlCol="0" anchor="ctr"/>
          <a:lstStyle/>
          <a:p>
            <a:pPr indent="0" marL="0">
              <a:buNone/>
            </a:pPr>
            <a:r>
              <a:rPr lang="en-US" sz="1500" b="1" dirty="0">
                <a:solidFill>
                  <a:srgbClr val="F5A623"/>
                </a:solidFill>
                <a:latin typeface="Courier New" pitchFamily="34" charset="0"/>
                <a:ea typeface="Courier New" pitchFamily="34" charset="-122"/>
                <a:cs typeface="Courier New" pitchFamily="34" charset="-120"/>
              </a:rPr>
              <a:t>The tell:  </a:t>
            </a:r>
            <a:pPr indent="0" marL="0">
              <a:buNone/>
            </a:pPr>
            <a:r>
              <a:rPr lang="en-US" sz="1500" dirty="0">
                <a:solidFill>
                  <a:srgbClr val="9AA3B2"/>
                </a:solidFill>
                <a:latin typeface="Arial" pitchFamily="34" charset="0"/>
                <a:ea typeface="Arial" pitchFamily="34" charset="-122"/>
                <a:cs typeface="Arial" pitchFamily="34" charset="-120"/>
              </a:rPr>
              <a:t>“and then it waits for approval” — days, and a human is the reason. Stop shopping in the data aisle.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05 — DATA</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6 / 11</a:t>
            </a:r>
            <a:endParaRPr lang="en-US" sz="1000" dirty="0"/>
          </a:p>
        </p:txBody>
      </p:sp>
      <p:sp>
        <p:nvSpPr>
          <p:cNvPr id="23" name="Shape 21"/>
          <p:cNvSpPr/>
          <p:nvPr/>
        </p:nvSpPr>
        <p:spPr>
          <a:xfrm>
            <a:off x="960120" y="713232"/>
            <a:ext cx="0" cy="914400"/>
          </a:xfrm>
          <a:prstGeom prst="line">
            <a:avLst/>
          </a:prstGeom>
          <a:noFill/>
          <a:ln w="25400">
            <a:solidFill>
              <a:srgbClr val="2DD4BF"/>
            </a:solidFill>
            <a:prstDash val="solid"/>
          </a:ln>
        </p:spPr>
      </p:sp>
      <p:sp>
        <p:nvSpPr>
          <p:cNvPr id="24" name="Shape 22"/>
          <p:cNvSpPr/>
          <p:nvPr/>
        </p:nvSpPr>
        <p:spPr>
          <a:xfrm>
            <a:off x="875538" y="628650"/>
            <a:ext cx="169164" cy="169164"/>
          </a:xfrm>
          <a:prstGeom prst="ellipse">
            <a:avLst/>
          </a:prstGeom>
          <a:solidFill>
            <a:srgbClr val="0A0C10"/>
          </a:solidFill>
          <a:ln w="31750">
            <a:solidFill>
              <a:srgbClr val="2DD4BF"/>
            </a:solidFill>
            <a:prstDash val="solid"/>
          </a:ln>
        </p:spPr>
      </p:sp>
      <p:sp>
        <p:nvSpPr>
          <p:cNvPr id="25" name="Shape 23"/>
          <p:cNvSpPr/>
          <p:nvPr/>
        </p:nvSpPr>
        <p:spPr>
          <a:xfrm>
            <a:off x="875538" y="933450"/>
            <a:ext cx="169164" cy="169164"/>
          </a:xfrm>
          <a:prstGeom prst="ellipse">
            <a:avLst/>
          </a:prstGeom>
          <a:solidFill>
            <a:srgbClr val="0A0C10"/>
          </a:solidFill>
          <a:ln w="31750">
            <a:solidFill>
              <a:srgbClr val="2DD4BF"/>
            </a:solidFill>
            <a:prstDash val="solid"/>
          </a:ln>
        </p:spPr>
      </p:sp>
      <p:sp>
        <p:nvSpPr>
          <p:cNvPr id="26" name="Shape 24"/>
          <p:cNvSpPr/>
          <p:nvPr/>
        </p:nvSpPr>
        <p:spPr>
          <a:xfrm>
            <a:off x="875538" y="1238250"/>
            <a:ext cx="169164" cy="169164"/>
          </a:xfrm>
          <a:prstGeom prst="ellipse">
            <a:avLst/>
          </a:prstGeom>
          <a:solidFill>
            <a:srgbClr val="0A0C10"/>
          </a:solidFill>
          <a:ln w="31750">
            <a:solidFill>
              <a:srgbClr val="2DD4BF"/>
            </a:solidFill>
            <a:prstDash val="solid"/>
          </a:ln>
        </p:spPr>
      </p:sp>
      <p:sp>
        <p:nvSpPr>
          <p:cNvPr id="27" name="Shape 25"/>
          <p:cNvSpPr/>
          <p:nvPr/>
        </p:nvSpPr>
        <p:spPr>
          <a:xfrm>
            <a:off x="875538" y="1543050"/>
            <a:ext cx="169164" cy="169164"/>
          </a:xfrm>
          <a:prstGeom prst="ellipse">
            <a:avLst/>
          </a:prstGeom>
          <a:solidFill>
            <a:srgbClr val="0A0C10"/>
          </a:solidFill>
          <a:ln w="31750">
            <a:solidFill>
              <a:srgbClr val="2DD4BF"/>
            </a:solidFill>
            <a:prstDash val="solid"/>
          </a:ln>
        </p:spPr>
      </p:sp>
      <p:sp>
        <p:nvSpPr>
          <p:cNvPr id="28" name="Text 26"/>
          <p:cNvSpPr/>
          <p:nvPr/>
        </p:nvSpPr>
        <p:spPr>
          <a:xfrm>
            <a:off x="1554480" y="749808"/>
            <a:ext cx="7315200" cy="640080"/>
          </a:xfrm>
          <a:prstGeom prst="rect">
            <a:avLst/>
          </a:prstGeom>
          <a:noFill/>
          <a:ln/>
        </p:spPr>
        <p:txBody>
          <a:bodyPr wrap="square" lIns="0" tIns="0" rIns="0" bIns="0" rtlCol="0" anchor="ctr"/>
          <a:lstStyle/>
          <a:p>
            <a:pPr indent="0" marL="0">
              <a:buNone/>
            </a:pPr>
            <a:r>
              <a:rPr lang="en-US" sz="3400" b="1" dirty="0">
                <a:solidFill>
                  <a:srgbClr val="F4F6F8"/>
                </a:solidFill>
                <a:latin typeface="Arial" pitchFamily="34" charset="0"/>
                <a:ea typeface="Arial" pitchFamily="34" charset="-122"/>
                <a:cs typeface="Arial" pitchFamily="34" charset="-120"/>
              </a:rPr>
              <a:t>The conveyor belt.</a:t>
            </a:r>
            <a:endParaRPr lang="en-US" sz="3400" dirty="0"/>
          </a:p>
        </p:txBody>
      </p:sp>
      <p:sp>
        <p:nvSpPr>
          <p:cNvPr id="29" name="Text 27"/>
          <p:cNvSpPr/>
          <p:nvPr/>
        </p:nvSpPr>
        <p:spPr>
          <a:xfrm>
            <a:off x="1554480" y="1389888"/>
            <a:ext cx="9875520" cy="365760"/>
          </a:xfrm>
          <a:prstGeom prst="rect">
            <a:avLst/>
          </a:prstGeom>
          <a:noFill/>
          <a:ln/>
        </p:spPr>
        <p:txBody>
          <a:bodyPr wrap="square" lIns="0" tIns="0" rIns="0" bIns="0" rtlCol="0" anchor="ctr"/>
          <a:lstStyle/>
          <a:p>
            <a:pPr indent="0" marL="0">
              <a:buNone/>
            </a:pPr>
            <a:r>
              <a:rPr lang="en-US" sz="1500" dirty="0">
                <a:solidFill>
                  <a:srgbClr val="9AA3B2"/>
                </a:solidFill>
                <a:latin typeface="Arial" pitchFamily="34" charset="0"/>
                <a:ea typeface="Arial" pitchFamily="34" charset="-122"/>
                <a:cs typeface="Arial" pitchFamily="34" charset="-120"/>
              </a:rPr>
              <a:t>Unit of work: a dataset. The hard part is blast radius — one bad input must not take down the other forty.</a:t>
            </a:r>
            <a:endParaRPr lang="en-US" sz="1500" dirty="0"/>
          </a:p>
        </p:txBody>
      </p:sp>
      <p:sp>
        <p:nvSpPr>
          <p:cNvPr id="30" name="Text 28"/>
          <p:cNvSpPr/>
          <p:nvPr/>
        </p:nvSpPr>
        <p:spPr>
          <a:xfrm>
            <a:off x="640080" y="2057400"/>
            <a:ext cx="5486400" cy="320040"/>
          </a:xfrm>
          <a:prstGeom prst="rect">
            <a:avLst/>
          </a:prstGeom>
          <a:noFill/>
          <a:ln/>
        </p:spPr>
        <p:txBody>
          <a:bodyPr wrap="square" lIns="0" tIns="0" rIns="0" bIns="0" rtlCol="0" anchor="ctr"/>
          <a:lstStyle/>
          <a:p>
            <a:pPr indent="0" marL="0">
              <a:buNone/>
            </a:pPr>
            <a:r>
              <a:rPr lang="en-US" sz="1300" spc="100" kern="0" dirty="0">
                <a:solidFill>
                  <a:srgbClr val="6B7382"/>
                </a:solidFill>
                <a:latin typeface="Courier New" pitchFamily="34" charset="0"/>
                <a:ea typeface="Courier New" pitchFamily="34" charset="-122"/>
                <a:cs typeface="Courier New" pitchFamily="34" charset="-120"/>
              </a:rPr>
              <a:t>Three primitives = </a:t>
            </a:r>
            <a:pPr indent="0" marL="0">
              <a:buNone/>
            </a:pPr>
            <a:r>
              <a:rPr lang="en-US" sz="1300" b="1" spc="100" kern="0" dirty="0">
                <a:solidFill>
                  <a:srgbClr val="2DD4BF"/>
                </a:solidFill>
                <a:latin typeface="Courier New" pitchFamily="34" charset="0"/>
                <a:ea typeface="Courier New" pitchFamily="34" charset="-122"/>
                <a:cs typeface="Courier New" pitchFamily="34" charset="-120"/>
              </a:rPr>
              <a:t>containment</a:t>
            </a:r>
            <a:endParaRPr lang="en-US" sz="1300" dirty="0"/>
          </a:p>
        </p:txBody>
      </p:sp>
      <p:sp>
        <p:nvSpPr>
          <p:cNvPr id="31" name="Shape 29"/>
          <p:cNvSpPr/>
          <p:nvPr/>
        </p:nvSpPr>
        <p:spPr>
          <a:xfrm>
            <a:off x="640080" y="2468880"/>
            <a:ext cx="3422904" cy="2788920"/>
          </a:xfrm>
          <a:prstGeom prst="roundRect">
            <a:avLst>
              <a:gd name="adj" fmla="val 3607"/>
            </a:avLst>
          </a:prstGeom>
          <a:solidFill>
            <a:srgbClr val="141824"/>
          </a:solidFill>
          <a:ln w="12700">
            <a:solidFill>
              <a:srgbClr val="272E3E"/>
            </a:solidFill>
            <a:prstDash val="solid"/>
          </a:ln>
        </p:spPr>
      </p:sp>
      <p:sp>
        <p:nvSpPr>
          <p:cNvPr id="32" name="Text 30"/>
          <p:cNvSpPr/>
          <p:nvPr/>
        </p:nvSpPr>
        <p:spPr>
          <a:xfrm>
            <a:off x="1005840" y="2761488"/>
            <a:ext cx="914400" cy="365760"/>
          </a:xfrm>
          <a:prstGeom prst="rect">
            <a:avLst/>
          </a:prstGeom>
          <a:noFill/>
          <a:ln/>
        </p:spPr>
        <p:txBody>
          <a:bodyPr wrap="square" lIns="0" tIns="0" rIns="0" bIns="0" rtlCol="0" anchor="ctr"/>
          <a:lstStyle/>
          <a:p>
            <a:pPr indent="0" marL="0">
              <a:buNone/>
            </a:pPr>
            <a:r>
              <a:rPr lang="en-US" sz="1500" b="1" dirty="0">
                <a:solidFill>
                  <a:srgbClr val="2DD4BF"/>
                </a:solidFill>
                <a:latin typeface="Courier New" pitchFamily="34" charset="0"/>
                <a:ea typeface="Courier New" pitchFamily="34" charset="-122"/>
                <a:cs typeface="Courier New" pitchFamily="34" charset="-120"/>
              </a:rPr>
              <a:t>01</a:t>
            </a:r>
            <a:endParaRPr lang="en-US" sz="1500" dirty="0"/>
          </a:p>
        </p:txBody>
      </p:sp>
      <p:sp>
        <p:nvSpPr>
          <p:cNvPr id="33" name="Text 31"/>
          <p:cNvSpPr/>
          <p:nvPr/>
        </p:nvSpPr>
        <p:spPr>
          <a:xfrm>
            <a:off x="1005840" y="3154680"/>
            <a:ext cx="2691384" cy="685800"/>
          </a:xfrm>
          <a:prstGeom prst="rect">
            <a:avLst/>
          </a:prstGeom>
          <a:noFill/>
          <a:ln/>
        </p:spPr>
        <p:txBody>
          <a:bodyPr wrap="square" lIns="0" tIns="0" rIns="0" bIns="0" rtlCol="0" anchor="t"/>
          <a:lstStyle/>
          <a:p>
            <a:pPr indent="0" marL="0">
              <a:lnSpc>
                <a:spcPct val="100000"/>
              </a:lnSpc>
              <a:buNone/>
            </a:pPr>
            <a:r>
              <a:rPr lang="en-US" sz="1800" b="1" dirty="0">
                <a:solidFill>
                  <a:srgbClr val="F4F6F8"/>
                </a:solidFill>
                <a:latin typeface="Arial" pitchFamily="34" charset="0"/>
                <a:ea typeface="Arial" pitchFamily="34" charset="-122"/>
                <a:cs typeface="Arial" pitchFamily="34" charset="-120"/>
              </a:rPr>
              <a:t>Dynamic task mapping</a:t>
            </a:r>
            <a:endParaRPr lang="en-US" sz="1800" dirty="0"/>
          </a:p>
        </p:txBody>
      </p:sp>
      <p:sp>
        <p:nvSpPr>
          <p:cNvPr id="34" name="Text 32"/>
          <p:cNvSpPr/>
          <p:nvPr/>
        </p:nvSpPr>
        <p:spPr>
          <a:xfrm>
            <a:off x="1005840" y="3886200"/>
            <a:ext cx="2691384" cy="1234440"/>
          </a:xfrm>
          <a:prstGeom prst="rect">
            <a:avLst/>
          </a:prstGeom>
          <a:noFill/>
          <a:ln/>
        </p:spPr>
        <p:txBody>
          <a:bodyPr wrap="square" lIns="0" tIns="0" rIns="0" bIns="0" rtlCol="0" anchor="t"/>
          <a:lstStyle/>
          <a:p>
            <a:pPr indent="0" marL="0">
              <a:lnSpc>
                <a:spcPct val="112000"/>
              </a:lnSpc>
              <a:buNone/>
            </a:pPr>
            <a:r>
              <a:rPr lang="en-US" sz="1250" dirty="0">
                <a:solidFill>
                  <a:srgbClr val="9AA3B2"/>
                </a:solidFill>
                <a:latin typeface="Arial" pitchFamily="34" charset="0"/>
                <a:ea typeface="Arial" pitchFamily="34" charset="-122"/>
                <a:cs typeface="Arial" pitchFamily="34" charset="-120"/>
              </a:rPr>
              <a:t>One declaration fans out into one task per tenant. A single bad payload fails that one tenant — every other tenant finishes clean. A hand-written loop dies on the first bad row and takes the good ones with it.</a:t>
            </a:r>
            <a:endParaRPr lang="en-US" sz="1250" dirty="0"/>
          </a:p>
        </p:txBody>
      </p:sp>
      <p:sp>
        <p:nvSpPr>
          <p:cNvPr id="35" name="Shape 33"/>
          <p:cNvSpPr/>
          <p:nvPr/>
        </p:nvSpPr>
        <p:spPr>
          <a:xfrm>
            <a:off x="4383024" y="2468880"/>
            <a:ext cx="3422904" cy="2788920"/>
          </a:xfrm>
          <a:prstGeom prst="roundRect">
            <a:avLst>
              <a:gd name="adj" fmla="val 3607"/>
            </a:avLst>
          </a:prstGeom>
          <a:solidFill>
            <a:srgbClr val="141824"/>
          </a:solidFill>
          <a:ln w="12700">
            <a:solidFill>
              <a:srgbClr val="272E3E"/>
            </a:solidFill>
            <a:prstDash val="solid"/>
          </a:ln>
        </p:spPr>
      </p:sp>
      <p:sp>
        <p:nvSpPr>
          <p:cNvPr id="36" name="Text 34"/>
          <p:cNvSpPr/>
          <p:nvPr/>
        </p:nvSpPr>
        <p:spPr>
          <a:xfrm>
            <a:off x="4748784" y="2761488"/>
            <a:ext cx="914400" cy="365760"/>
          </a:xfrm>
          <a:prstGeom prst="rect">
            <a:avLst/>
          </a:prstGeom>
          <a:noFill/>
          <a:ln/>
        </p:spPr>
        <p:txBody>
          <a:bodyPr wrap="square" lIns="0" tIns="0" rIns="0" bIns="0" rtlCol="0" anchor="ctr"/>
          <a:lstStyle/>
          <a:p>
            <a:pPr indent="0" marL="0">
              <a:buNone/>
            </a:pPr>
            <a:r>
              <a:rPr lang="en-US" sz="1500" b="1" dirty="0">
                <a:solidFill>
                  <a:srgbClr val="2DD4BF"/>
                </a:solidFill>
                <a:latin typeface="Courier New" pitchFamily="34" charset="0"/>
                <a:ea typeface="Courier New" pitchFamily="34" charset="-122"/>
                <a:cs typeface="Courier New" pitchFamily="34" charset="-120"/>
              </a:rPr>
              <a:t>02</a:t>
            </a:r>
            <a:endParaRPr lang="en-US" sz="1500" dirty="0"/>
          </a:p>
        </p:txBody>
      </p:sp>
      <p:sp>
        <p:nvSpPr>
          <p:cNvPr id="37" name="Text 35"/>
          <p:cNvSpPr/>
          <p:nvPr/>
        </p:nvSpPr>
        <p:spPr>
          <a:xfrm>
            <a:off x="4748784" y="3154680"/>
            <a:ext cx="2691384" cy="685800"/>
          </a:xfrm>
          <a:prstGeom prst="rect">
            <a:avLst/>
          </a:prstGeom>
          <a:noFill/>
          <a:ln/>
        </p:spPr>
        <p:txBody>
          <a:bodyPr wrap="square" lIns="0" tIns="0" rIns="0" bIns="0" rtlCol="0" anchor="t"/>
          <a:lstStyle/>
          <a:p>
            <a:pPr indent="0" marL="0">
              <a:lnSpc>
                <a:spcPct val="100000"/>
              </a:lnSpc>
              <a:buNone/>
            </a:pPr>
            <a:r>
              <a:rPr lang="en-US" sz="1800" b="1" dirty="0">
                <a:solidFill>
                  <a:srgbClr val="F4F6F8"/>
                </a:solidFill>
                <a:latin typeface="Arial" pitchFamily="34" charset="0"/>
                <a:ea typeface="Arial" pitchFamily="34" charset="-122"/>
                <a:cs typeface="Arial" pitchFamily="34" charset="-120"/>
              </a:rPr>
              <a:t>Watermarks &amp; checkpoints</a:t>
            </a:r>
            <a:endParaRPr lang="en-US" sz="1800" dirty="0"/>
          </a:p>
        </p:txBody>
      </p:sp>
      <p:sp>
        <p:nvSpPr>
          <p:cNvPr id="38" name="Text 36"/>
          <p:cNvSpPr/>
          <p:nvPr/>
        </p:nvSpPr>
        <p:spPr>
          <a:xfrm>
            <a:off x="4748784" y="3886200"/>
            <a:ext cx="2691384" cy="1234440"/>
          </a:xfrm>
          <a:prstGeom prst="rect">
            <a:avLst/>
          </a:prstGeom>
          <a:noFill/>
          <a:ln/>
        </p:spPr>
        <p:txBody>
          <a:bodyPr wrap="square" lIns="0" tIns="0" rIns="0" bIns="0" rtlCol="0" anchor="t"/>
          <a:lstStyle/>
          <a:p>
            <a:pPr indent="0" marL="0">
              <a:lnSpc>
                <a:spcPct val="112000"/>
              </a:lnSpc>
              <a:buNone/>
            </a:pPr>
            <a:r>
              <a:rPr lang="en-US" sz="1250" dirty="0">
                <a:solidFill>
                  <a:srgbClr val="9AA3B2"/>
                </a:solidFill>
                <a:latin typeface="Arial" pitchFamily="34" charset="0"/>
                <a:ea typeface="Arial" pitchFamily="34" charset="-122"/>
                <a:cs typeface="Arial" pitchFamily="34" charset="-120"/>
              </a:rPr>
              <a:t>Incremental jobs recording how far they got. Earns its keep exactly once: the night a nine-hour backfill dies at hour eight — then it's worth more than every other feature combined.</a:t>
            </a:r>
            <a:endParaRPr lang="en-US" sz="1250" dirty="0"/>
          </a:p>
        </p:txBody>
      </p:sp>
      <p:sp>
        <p:nvSpPr>
          <p:cNvPr id="39" name="Shape 37"/>
          <p:cNvSpPr/>
          <p:nvPr/>
        </p:nvSpPr>
        <p:spPr>
          <a:xfrm>
            <a:off x="8125968" y="2468880"/>
            <a:ext cx="3422904" cy="2788920"/>
          </a:xfrm>
          <a:prstGeom prst="roundRect">
            <a:avLst>
              <a:gd name="adj" fmla="val 3607"/>
            </a:avLst>
          </a:prstGeom>
          <a:solidFill>
            <a:srgbClr val="141824"/>
          </a:solidFill>
          <a:ln w="12700">
            <a:solidFill>
              <a:srgbClr val="272E3E"/>
            </a:solidFill>
            <a:prstDash val="solid"/>
          </a:ln>
        </p:spPr>
      </p:sp>
      <p:sp>
        <p:nvSpPr>
          <p:cNvPr id="40" name="Text 38"/>
          <p:cNvSpPr/>
          <p:nvPr/>
        </p:nvSpPr>
        <p:spPr>
          <a:xfrm>
            <a:off x="8491728" y="2761488"/>
            <a:ext cx="914400" cy="365760"/>
          </a:xfrm>
          <a:prstGeom prst="rect">
            <a:avLst/>
          </a:prstGeom>
          <a:noFill/>
          <a:ln/>
        </p:spPr>
        <p:txBody>
          <a:bodyPr wrap="square" lIns="0" tIns="0" rIns="0" bIns="0" rtlCol="0" anchor="ctr"/>
          <a:lstStyle/>
          <a:p>
            <a:pPr indent="0" marL="0">
              <a:buNone/>
            </a:pPr>
            <a:r>
              <a:rPr lang="en-US" sz="1500" b="1" dirty="0">
                <a:solidFill>
                  <a:srgbClr val="2DD4BF"/>
                </a:solidFill>
                <a:latin typeface="Courier New" pitchFamily="34" charset="0"/>
                <a:ea typeface="Courier New" pitchFamily="34" charset="-122"/>
                <a:cs typeface="Courier New" pitchFamily="34" charset="-120"/>
              </a:rPr>
              <a:t>03</a:t>
            </a:r>
            <a:endParaRPr lang="en-US" sz="1500" dirty="0"/>
          </a:p>
        </p:txBody>
      </p:sp>
      <p:sp>
        <p:nvSpPr>
          <p:cNvPr id="41" name="Text 39"/>
          <p:cNvSpPr/>
          <p:nvPr/>
        </p:nvSpPr>
        <p:spPr>
          <a:xfrm>
            <a:off x="8491728" y="3154680"/>
            <a:ext cx="2691384" cy="685800"/>
          </a:xfrm>
          <a:prstGeom prst="rect">
            <a:avLst/>
          </a:prstGeom>
          <a:noFill/>
          <a:ln/>
        </p:spPr>
        <p:txBody>
          <a:bodyPr wrap="square" lIns="0" tIns="0" rIns="0" bIns="0" rtlCol="0" anchor="t"/>
          <a:lstStyle/>
          <a:p>
            <a:pPr indent="0" marL="0">
              <a:lnSpc>
                <a:spcPct val="100000"/>
              </a:lnSpc>
              <a:buNone/>
            </a:pPr>
            <a:r>
              <a:rPr lang="en-US" sz="1800" b="1" dirty="0">
                <a:solidFill>
                  <a:srgbClr val="F4F6F8"/>
                </a:solidFill>
                <a:latin typeface="Arial" pitchFamily="34" charset="0"/>
                <a:ea typeface="Arial" pitchFamily="34" charset="-122"/>
                <a:cs typeface="Arial" pitchFamily="34" charset="-120"/>
              </a:rPr>
              <a:t>Pools</a:t>
            </a:r>
            <a:endParaRPr lang="en-US" sz="1800" dirty="0"/>
          </a:p>
        </p:txBody>
      </p:sp>
      <p:sp>
        <p:nvSpPr>
          <p:cNvPr id="42" name="Text 40"/>
          <p:cNvSpPr/>
          <p:nvPr/>
        </p:nvSpPr>
        <p:spPr>
          <a:xfrm>
            <a:off x="8491728" y="3886200"/>
            <a:ext cx="2691384" cy="1234440"/>
          </a:xfrm>
          <a:prstGeom prst="rect">
            <a:avLst/>
          </a:prstGeom>
          <a:noFill/>
          <a:ln/>
        </p:spPr>
        <p:txBody>
          <a:bodyPr wrap="square" lIns="0" tIns="0" rIns="0" bIns="0" rtlCol="0" anchor="t"/>
          <a:lstStyle/>
          <a:p>
            <a:pPr indent="0" marL="0">
              <a:lnSpc>
                <a:spcPct val="112000"/>
              </a:lnSpc>
              <a:buNone/>
            </a:pPr>
            <a:r>
              <a:rPr lang="en-US" sz="1250" dirty="0">
                <a:solidFill>
                  <a:srgbClr val="9AA3B2"/>
                </a:solidFill>
                <a:latin typeface="Arial" pitchFamily="34" charset="0"/>
                <a:ea typeface="Arial" pitchFamily="34" charset="-122"/>
                <a:cs typeface="Arial" pitchFamily="34" charset="-120"/>
              </a:rPr>
              <a:t>A named semaphore. Give heavy rendering its own pool and a day-long training job can never starve the ingestion lane. Two workloads, one cluster, no negotiation.</a:t>
            </a:r>
            <a:endParaRPr lang="en-US" sz="1250" dirty="0"/>
          </a:p>
        </p:txBody>
      </p:sp>
      <p:sp>
        <p:nvSpPr>
          <p:cNvPr id="43" name="Text 41"/>
          <p:cNvSpPr/>
          <p:nvPr/>
        </p:nvSpPr>
        <p:spPr>
          <a:xfrm>
            <a:off x="640080" y="5504688"/>
            <a:ext cx="10881360" cy="548640"/>
          </a:xfrm>
          <a:prstGeom prst="rect">
            <a:avLst/>
          </a:prstGeom>
          <a:noFill/>
          <a:ln/>
        </p:spPr>
        <p:txBody>
          <a:bodyPr wrap="square" lIns="0" tIns="0" rIns="0" bIns="0" rtlCol="0" anchor="ctr"/>
          <a:lstStyle/>
          <a:p>
            <a:pPr indent="0" marL="0">
              <a:buNone/>
            </a:pPr>
            <a:r>
              <a:rPr lang="en-US" sz="1500" b="1" dirty="0">
                <a:solidFill>
                  <a:srgbClr val="F4F6F8"/>
                </a:solidFill>
                <a:latin typeface="Arial" pitchFamily="34" charset="0"/>
                <a:ea typeface="Arial" pitchFamily="34" charset="-122"/>
                <a:cs typeface="Arial" pitchFamily="34" charset="-120"/>
              </a:rPr>
              <a:t>Push compute down — move pointers, not payloads. </a:t>
            </a:r>
            <a:pPr indent="0" marL="0">
              <a:buNone/>
            </a:pPr>
            <a:r>
              <a:rPr lang="en-US" sz="1500" dirty="0">
                <a:solidFill>
                  <a:srgbClr val="9AA3B2"/>
                </a:solidFill>
                <a:latin typeface="Arial" pitchFamily="34" charset="0"/>
                <a:ea typeface="Arial" pitchFamily="34" charset="-122"/>
                <a:cs typeface="Arial" pitchFamily="34" charset="-120"/>
              </a:rPr>
              <a:t>You're not buying features. You're buying other people's outages, already survived.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06 — BUSINESS + DATA</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7 / 11</a:t>
            </a:r>
            <a:endParaRPr lang="en-US" sz="1000" dirty="0"/>
          </a:p>
        </p:txBody>
      </p:sp>
      <p:sp>
        <p:nvSpPr>
          <p:cNvPr id="23" name="Shape 21"/>
          <p:cNvSpPr/>
          <p:nvPr/>
        </p:nvSpPr>
        <p:spPr>
          <a:xfrm>
            <a:off x="960120" y="713232"/>
            <a:ext cx="0" cy="304800"/>
          </a:xfrm>
          <a:prstGeom prst="line">
            <a:avLst/>
          </a:prstGeom>
          <a:noFill/>
          <a:ln w="25400">
            <a:solidFill>
              <a:srgbClr val="A78BFA"/>
            </a:solidFill>
            <a:prstDash val="solid"/>
          </a:ln>
        </p:spPr>
      </p:sp>
      <p:sp>
        <p:nvSpPr>
          <p:cNvPr id="24" name="Shape 22"/>
          <p:cNvSpPr/>
          <p:nvPr/>
        </p:nvSpPr>
        <p:spPr>
          <a:xfrm flipV="1">
            <a:off x="676656" y="1018032"/>
            <a:ext cx="283464" cy="228600"/>
          </a:xfrm>
          <a:prstGeom prst="line">
            <a:avLst/>
          </a:prstGeom>
          <a:noFill/>
          <a:ln w="25400">
            <a:solidFill>
              <a:srgbClr val="A78BFA"/>
            </a:solidFill>
            <a:prstDash val="solid"/>
          </a:ln>
        </p:spPr>
      </p:sp>
      <p:sp>
        <p:nvSpPr>
          <p:cNvPr id="25" name="Shape 23"/>
          <p:cNvSpPr/>
          <p:nvPr/>
        </p:nvSpPr>
        <p:spPr>
          <a:xfrm>
            <a:off x="960120" y="1018032"/>
            <a:ext cx="283464" cy="228600"/>
          </a:xfrm>
          <a:prstGeom prst="line">
            <a:avLst/>
          </a:prstGeom>
          <a:noFill/>
          <a:ln w="25400">
            <a:solidFill>
              <a:srgbClr val="A78BFA"/>
            </a:solidFill>
            <a:prstDash val="solid"/>
          </a:ln>
        </p:spPr>
      </p:sp>
      <p:sp>
        <p:nvSpPr>
          <p:cNvPr id="26" name="Shape 24"/>
          <p:cNvSpPr/>
          <p:nvPr/>
        </p:nvSpPr>
        <p:spPr>
          <a:xfrm>
            <a:off x="676656" y="1246632"/>
            <a:ext cx="283464" cy="381000"/>
          </a:xfrm>
          <a:prstGeom prst="line">
            <a:avLst/>
          </a:prstGeom>
          <a:noFill/>
          <a:ln w="25400">
            <a:solidFill>
              <a:srgbClr val="A78BFA"/>
            </a:solidFill>
            <a:prstDash val="solid"/>
          </a:ln>
        </p:spPr>
      </p:sp>
      <p:sp>
        <p:nvSpPr>
          <p:cNvPr id="27" name="Shape 25"/>
          <p:cNvSpPr/>
          <p:nvPr/>
        </p:nvSpPr>
        <p:spPr>
          <a:xfrm flipV="1">
            <a:off x="960120" y="1246632"/>
            <a:ext cx="283464" cy="381000"/>
          </a:xfrm>
          <a:prstGeom prst="line">
            <a:avLst/>
          </a:prstGeom>
          <a:noFill/>
          <a:ln w="25400">
            <a:solidFill>
              <a:srgbClr val="A78BFA"/>
            </a:solidFill>
            <a:prstDash val="solid"/>
          </a:ln>
        </p:spPr>
      </p:sp>
      <p:sp>
        <p:nvSpPr>
          <p:cNvPr id="28" name="Shape 26"/>
          <p:cNvSpPr/>
          <p:nvPr/>
        </p:nvSpPr>
        <p:spPr>
          <a:xfrm>
            <a:off x="875538" y="628650"/>
            <a:ext cx="169164" cy="169164"/>
          </a:xfrm>
          <a:prstGeom prst="ellipse">
            <a:avLst/>
          </a:prstGeom>
          <a:solidFill>
            <a:srgbClr val="0A0C10"/>
          </a:solidFill>
          <a:ln w="31750">
            <a:solidFill>
              <a:srgbClr val="A78BFA"/>
            </a:solidFill>
            <a:prstDash val="solid"/>
          </a:ln>
        </p:spPr>
      </p:sp>
      <p:sp>
        <p:nvSpPr>
          <p:cNvPr id="29" name="Shape 27"/>
          <p:cNvSpPr/>
          <p:nvPr/>
        </p:nvSpPr>
        <p:spPr>
          <a:xfrm>
            <a:off x="875538" y="933450"/>
            <a:ext cx="169164" cy="169164"/>
          </a:xfrm>
          <a:prstGeom prst="ellipse">
            <a:avLst/>
          </a:prstGeom>
          <a:solidFill>
            <a:srgbClr val="0A0C10"/>
          </a:solidFill>
          <a:ln w="31750">
            <a:solidFill>
              <a:srgbClr val="A78BFA"/>
            </a:solidFill>
            <a:prstDash val="solid"/>
          </a:ln>
        </p:spPr>
      </p:sp>
      <p:sp>
        <p:nvSpPr>
          <p:cNvPr id="30" name="Shape 28"/>
          <p:cNvSpPr/>
          <p:nvPr/>
        </p:nvSpPr>
        <p:spPr>
          <a:xfrm>
            <a:off x="592074" y="1162050"/>
            <a:ext cx="169164" cy="169164"/>
          </a:xfrm>
          <a:prstGeom prst="ellipse">
            <a:avLst/>
          </a:prstGeom>
          <a:solidFill>
            <a:srgbClr val="0A0C10"/>
          </a:solidFill>
          <a:ln w="31750">
            <a:solidFill>
              <a:srgbClr val="A78BFA"/>
            </a:solidFill>
            <a:prstDash val="solid"/>
          </a:ln>
        </p:spPr>
      </p:sp>
      <p:sp>
        <p:nvSpPr>
          <p:cNvPr id="31" name="Shape 29"/>
          <p:cNvSpPr/>
          <p:nvPr/>
        </p:nvSpPr>
        <p:spPr>
          <a:xfrm>
            <a:off x="1159002" y="1162050"/>
            <a:ext cx="169164" cy="169164"/>
          </a:xfrm>
          <a:prstGeom prst="ellipse">
            <a:avLst/>
          </a:prstGeom>
          <a:solidFill>
            <a:srgbClr val="0A0C10"/>
          </a:solidFill>
          <a:ln w="31750">
            <a:solidFill>
              <a:srgbClr val="A78BFA"/>
            </a:solidFill>
            <a:prstDash val="solid"/>
          </a:ln>
        </p:spPr>
      </p:sp>
      <p:sp>
        <p:nvSpPr>
          <p:cNvPr id="32" name="Shape 30"/>
          <p:cNvSpPr/>
          <p:nvPr/>
        </p:nvSpPr>
        <p:spPr>
          <a:xfrm>
            <a:off x="875538" y="1543050"/>
            <a:ext cx="169164" cy="169164"/>
          </a:xfrm>
          <a:prstGeom prst="ellipse">
            <a:avLst/>
          </a:prstGeom>
          <a:solidFill>
            <a:srgbClr val="0A0C10"/>
          </a:solidFill>
          <a:ln w="31750">
            <a:solidFill>
              <a:srgbClr val="A78BFA"/>
            </a:solidFill>
            <a:prstDash val="solid"/>
          </a:ln>
        </p:spPr>
      </p:sp>
      <p:sp>
        <p:nvSpPr>
          <p:cNvPr id="33" name="Text 31"/>
          <p:cNvSpPr/>
          <p:nvPr/>
        </p:nvSpPr>
        <p:spPr>
          <a:xfrm>
            <a:off x="1554480" y="749808"/>
            <a:ext cx="10058400" cy="640080"/>
          </a:xfrm>
          <a:prstGeom prst="rect">
            <a:avLst/>
          </a:prstGeom>
          <a:noFill/>
          <a:ln/>
        </p:spPr>
        <p:txBody>
          <a:bodyPr wrap="square" lIns="0" tIns="0" rIns="0" bIns="0" rtlCol="0" anchor="ctr"/>
          <a:lstStyle/>
          <a:p>
            <a:pPr indent="0" marL="0">
              <a:buNone/>
            </a:pPr>
            <a:r>
              <a:rPr lang="en-US" sz="3200" b="1" dirty="0">
                <a:solidFill>
                  <a:srgbClr val="F4F6F8"/>
                </a:solidFill>
                <a:latin typeface="Arial" pitchFamily="34" charset="0"/>
                <a:ea typeface="Arial" pitchFamily="34" charset="-122"/>
                <a:cs typeface="Arial" pitchFamily="34" charset="-120"/>
              </a:rPr>
              <a:t>The belt with a stamp in the middle.</a:t>
            </a:r>
            <a:endParaRPr lang="en-US" sz="3200" dirty="0"/>
          </a:p>
        </p:txBody>
      </p:sp>
      <p:sp>
        <p:nvSpPr>
          <p:cNvPr id="34" name="Text 32"/>
          <p:cNvSpPr/>
          <p:nvPr/>
        </p:nvSpPr>
        <p:spPr>
          <a:xfrm>
            <a:off x="1554480" y="1371600"/>
            <a:ext cx="9875520" cy="365760"/>
          </a:xfrm>
          <a:prstGeom prst="rect">
            <a:avLst/>
          </a:prstGeom>
          <a:noFill/>
          <a:ln/>
        </p:spPr>
        <p:txBody>
          <a:bodyPr wrap="square" lIns="0" tIns="0" rIns="0" bIns="0" rtlCol="0" anchor="ctr"/>
          <a:lstStyle/>
          <a:p>
            <a:pPr indent="0" marL="0">
              <a:buNone/>
            </a:pPr>
            <a:r>
              <a:rPr lang="en-US" sz="1500" dirty="0">
                <a:solidFill>
                  <a:srgbClr val="9AA3B2"/>
                </a:solidFill>
                <a:latin typeface="Arial" pitchFamily="34" charset="0"/>
                <a:ea typeface="Arial" pitchFamily="34" charset="-122"/>
                <a:cs typeface="Arial" pitchFamily="34" charset="-120"/>
              </a:rPr>
              <a:t>Mostly data movement — with real business decisions wired through it. Neither aisle quite fits.</a:t>
            </a:r>
            <a:endParaRPr lang="en-US" sz="1500" dirty="0"/>
          </a:p>
        </p:txBody>
      </p:sp>
      <p:sp>
        <p:nvSpPr>
          <p:cNvPr id="35" name="Shape 33"/>
          <p:cNvSpPr/>
          <p:nvPr/>
        </p:nvSpPr>
        <p:spPr>
          <a:xfrm>
            <a:off x="640080" y="2194560"/>
            <a:ext cx="3300984" cy="2148840"/>
          </a:xfrm>
          <a:prstGeom prst="roundRect">
            <a:avLst>
              <a:gd name="adj" fmla="val 4681"/>
            </a:avLst>
          </a:prstGeom>
          <a:solidFill>
            <a:srgbClr val="141824"/>
          </a:solidFill>
          <a:ln w="12700">
            <a:solidFill>
              <a:srgbClr val="272E3E"/>
            </a:solidFill>
            <a:prstDash val="solid"/>
          </a:ln>
        </p:spPr>
      </p:sp>
      <p:sp>
        <p:nvSpPr>
          <p:cNvPr id="36" name="Text 34"/>
          <p:cNvSpPr/>
          <p:nvPr/>
        </p:nvSpPr>
        <p:spPr>
          <a:xfrm>
            <a:off x="960120" y="2468880"/>
            <a:ext cx="2660904" cy="27432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ourier New" pitchFamily="34" charset="0"/>
                <a:ea typeface="Courier New" pitchFamily="34" charset="-122"/>
                <a:cs typeface="Courier New" pitchFamily="34" charset="-120"/>
              </a:rPr>
              <a:t>DATA IN</a:t>
            </a:r>
            <a:endParaRPr lang="en-US" sz="1200" dirty="0"/>
          </a:p>
        </p:txBody>
      </p:sp>
      <p:sp>
        <p:nvSpPr>
          <p:cNvPr id="37" name="Text 35"/>
          <p:cNvSpPr/>
          <p:nvPr/>
        </p:nvSpPr>
        <p:spPr>
          <a:xfrm>
            <a:off x="960120" y="2761488"/>
            <a:ext cx="2660904" cy="411480"/>
          </a:xfrm>
          <a:prstGeom prst="rect">
            <a:avLst/>
          </a:prstGeom>
          <a:noFill/>
          <a:ln/>
        </p:spPr>
        <p:txBody>
          <a:bodyPr wrap="square" lIns="0" tIns="0" rIns="0" bIns="0" rtlCol="0" anchor="ctr"/>
          <a:lstStyle/>
          <a:p>
            <a:pPr indent="0" marL="0">
              <a:buNone/>
            </a:pPr>
            <a:r>
              <a:rPr lang="en-US" sz="1900" b="1" dirty="0">
                <a:solidFill>
                  <a:srgbClr val="F4F6F8"/>
                </a:solidFill>
                <a:latin typeface="Arial" pitchFamily="34" charset="0"/>
                <a:ea typeface="Arial" pitchFamily="34" charset="-122"/>
                <a:cs typeface="Arial" pitchFamily="34" charset="-120"/>
              </a:rPr>
              <a:t>Transport</a:t>
            </a:r>
            <a:endParaRPr lang="en-US" sz="1900" dirty="0"/>
          </a:p>
        </p:txBody>
      </p:sp>
      <p:sp>
        <p:nvSpPr>
          <p:cNvPr id="38" name="Text 36"/>
          <p:cNvSpPr/>
          <p:nvPr/>
        </p:nvSpPr>
        <p:spPr>
          <a:xfrm>
            <a:off x="960120" y="3218688"/>
            <a:ext cx="2660904" cy="1005840"/>
          </a:xfrm>
          <a:prstGeom prst="rect">
            <a:avLst/>
          </a:prstGeom>
          <a:noFill/>
          <a:ln/>
        </p:spPr>
        <p:txBody>
          <a:bodyPr wrap="square" lIns="0" tIns="0" rIns="0" bIns="0" rtlCol="0" anchor="t"/>
          <a:lstStyle/>
          <a:p>
            <a:pPr indent="0" marL="0">
              <a:lnSpc>
                <a:spcPct val="112000"/>
              </a:lnSpc>
              <a:buNone/>
            </a:pPr>
            <a:r>
              <a:rPr lang="en-US" sz="1250" dirty="0">
                <a:solidFill>
                  <a:srgbClr val="9AA3B2"/>
                </a:solidFill>
                <a:latin typeface="Arial" pitchFamily="34" charset="0"/>
                <a:ea typeface="Arial" pitchFamily="34" charset="-122"/>
                <a:cs typeface="Arial" pitchFamily="34" charset="-120"/>
              </a:rPr>
              <a:t>Pull new reviews from each marketplace, match each to its product. Plain tasks — fetching and matching needs no judgment.</a:t>
            </a:r>
            <a:endParaRPr lang="en-US" sz="1250" dirty="0"/>
          </a:p>
        </p:txBody>
      </p:sp>
      <p:sp>
        <p:nvSpPr>
          <p:cNvPr id="39" name="Text 37"/>
          <p:cNvSpPr/>
          <p:nvPr/>
        </p:nvSpPr>
        <p:spPr>
          <a:xfrm>
            <a:off x="3959352" y="2194560"/>
            <a:ext cx="502920" cy="2148840"/>
          </a:xfrm>
          <a:prstGeom prst="rect">
            <a:avLst/>
          </a:prstGeom>
          <a:noFill/>
          <a:ln/>
        </p:spPr>
        <p:txBody>
          <a:bodyPr wrap="square" lIns="0" tIns="0" rIns="0" bIns="0" rtlCol="0" anchor="ctr"/>
          <a:lstStyle/>
          <a:p>
            <a:pPr algn="ctr" indent="0" marL="0">
              <a:buNone/>
            </a:pPr>
            <a:r>
              <a:rPr lang="en-US" sz="2600" b="1" dirty="0">
                <a:solidFill>
                  <a:srgbClr val="6B7382"/>
                </a:solidFill>
                <a:latin typeface="Arial" pitchFamily="34" charset="0"/>
                <a:ea typeface="Arial" pitchFamily="34" charset="-122"/>
                <a:cs typeface="Arial" pitchFamily="34" charset="-120"/>
              </a:rPr>
              <a:t>→</a:t>
            </a:r>
            <a:endParaRPr lang="en-US" sz="2600" dirty="0"/>
          </a:p>
        </p:txBody>
      </p:sp>
      <p:sp>
        <p:nvSpPr>
          <p:cNvPr id="40" name="Shape 38"/>
          <p:cNvSpPr/>
          <p:nvPr/>
        </p:nvSpPr>
        <p:spPr>
          <a:xfrm>
            <a:off x="4443984" y="2194560"/>
            <a:ext cx="3300984" cy="2148840"/>
          </a:xfrm>
          <a:prstGeom prst="roundRect">
            <a:avLst>
              <a:gd name="adj" fmla="val 4681"/>
            </a:avLst>
          </a:prstGeom>
          <a:solidFill>
            <a:srgbClr val="141824"/>
          </a:solidFill>
          <a:ln w="12700">
            <a:solidFill>
              <a:srgbClr val="272E3E"/>
            </a:solidFill>
            <a:prstDash val="solid"/>
          </a:ln>
        </p:spPr>
      </p:sp>
      <p:sp>
        <p:nvSpPr>
          <p:cNvPr id="41" name="Text 39"/>
          <p:cNvSpPr/>
          <p:nvPr/>
        </p:nvSpPr>
        <p:spPr>
          <a:xfrm>
            <a:off x="4764024" y="2468880"/>
            <a:ext cx="2660904" cy="274320"/>
          </a:xfrm>
          <a:prstGeom prst="rect">
            <a:avLst/>
          </a:prstGeom>
          <a:noFill/>
          <a:ln/>
        </p:spPr>
        <p:txBody>
          <a:bodyPr wrap="square" lIns="0" tIns="0" rIns="0" bIns="0" rtlCol="0" anchor="ctr"/>
          <a:lstStyle/>
          <a:p>
            <a:pPr indent="0" marL="0">
              <a:buNone/>
            </a:pPr>
            <a:r>
              <a:rPr lang="en-US" sz="1200" b="1" spc="200" kern="0" dirty="0">
                <a:solidFill>
                  <a:srgbClr val="A78BFA"/>
                </a:solidFill>
                <a:latin typeface="Courier New" pitchFamily="34" charset="0"/>
                <a:ea typeface="Courier New" pitchFamily="34" charset="-122"/>
                <a:cs typeface="Courier New" pitchFamily="34" charset="-120"/>
              </a:rPr>
              <a:t>AGENT</a:t>
            </a:r>
            <a:endParaRPr lang="en-US" sz="1200" dirty="0"/>
          </a:p>
        </p:txBody>
      </p:sp>
      <p:sp>
        <p:nvSpPr>
          <p:cNvPr id="42" name="Text 40"/>
          <p:cNvSpPr/>
          <p:nvPr/>
        </p:nvSpPr>
        <p:spPr>
          <a:xfrm>
            <a:off x="4764024" y="2761488"/>
            <a:ext cx="2660904" cy="411480"/>
          </a:xfrm>
          <a:prstGeom prst="rect">
            <a:avLst/>
          </a:prstGeom>
          <a:noFill/>
          <a:ln/>
        </p:spPr>
        <p:txBody>
          <a:bodyPr wrap="square" lIns="0" tIns="0" rIns="0" bIns="0" rtlCol="0" anchor="ctr"/>
          <a:lstStyle/>
          <a:p>
            <a:pPr indent="0" marL="0">
              <a:buNone/>
            </a:pPr>
            <a:r>
              <a:rPr lang="en-US" sz="1900" b="1" dirty="0">
                <a:solidFill>
                  <a:srgbClr val="F4F6F8"/>
                </a:solidFill>
                <a:latin typeface="Arial" pitchFamily="34" charset="0"/>
                <a:ea typeface="Arial" pitchFamily="34" charset="-122"/>
                <a:cs typeface="Arial" pitchFamily="34" charset="-120"/>
              </a:rPr>
              <a:t>Judgment</a:t>
            </a:r>
            <a:endParaRPr lang="en-US" sz="1900" dirty="0"/>
          </a:p>
        </p:txBody>
      </p:sp>
      <p:sp>
        <p:nvSpPr>
          <p:cNvPr id="43" name="Text 41"/>
          <p:cNvSpPr/>
          <p:nvPr/>
        </p:nvSpPr>
        <p:spPr>
          <a:xfrm>
            <a:off x="4764024" y="3218688"/>
            <a:ext cx="2660904" cy="1005840"/>
          </a:xfrm>
          <a:prstGeom prst="rect">
            <a:avLst/>
          </a:prstGeom>
          <a:noFill/>
          <a:ln/>
        </p:spPr>
        <p:txBody>
          <a:bodyPr wrap="square" lIns="0" tIns="0" rIns="0" bIns="0" rtlCol="0" anchor="t"/>
          <a:lstStyle/>
          <a:p>
            <a:pPr indent="0" marL="0">
              <a:lnSpc>
                <a:spcPct val="112000"/>
              </a:lnSpc>
              <a:buNone/>
            </a:pPr>
            <a:r>
              <a:rPr lang="en-US" sz="1250" dirty="0">
                <a:solidFill>
                  <a:srgbClr val="9AA3B2"/>
                </a:solidFill>
                <a:latin typeface="Arial" pitchFamily="34" charset="0"/>
                <a:ea typeface="Arial" pitchFamily="34" charset="-122"/>
                <a:cs typeface="Arial" pitchFamily="34" charset="-120"/>
              </a:rPr>
              <a:t>Read each review and decide what it's saying: defect, sizing, or a delivery complaint about the courier. The one step code can't do reliably.</a:t>
            </a:r>
            <a:endParaRPr lang="en-US" sz="1250" dirty="0"/>
          </a:p>
        </p:txBody>
      </p:sp>
      <p:sp>
        <p:nvSpPr>
          <p:cNvPr id="44" name="Text 42"/>
          <p:cNvSpPr/>
          <p:nvPr/>
        </p:nvSpPr>
        <p:spPr>
          <a:xfrm>
            <a:off x="7763256" y="2194560"/>
            <a:ext cx="502920" cy="2148840"/>
          </a:xfrm>
          <a:prstGeom prst="rect">
            <a:avLst/>
          </a:prstGeom>
          <a:noFill/>
          <a:ln/>
        </p:spPr>
        <p:txBody>
          <a:bodyPr wrap="square" lIns="0" tIns="0" rIns="0" bIns="0" rtlCol="0" anchor="ctr"/>
          <a:lstStyle/>
          <a:p>
            <a:pPr algn="ctr" indent="0" marL="0">
              <a:buNone/>
            </a:pPr>
            <a:r>
              <a:rPr lang="en-US" sz="2600" b="1" dirty="0">
                <a:solidFill>
                  <a:srgbClr val="6B7382"/>
                </a:solidFill>
                <a:latin typeface="Arial" pitchFamily="34" charset="0"/>
                <a:ea typeface="Arial" pitchFamily="34" charset="-122"/>
                <a:cs typeface="Arial" pitchFamily="34" charset="-120"/>
              </a:rPr>
              <a:t>→</a:t>
            </a:r>
            <a:endParaRPr lang="en-US" sz="2600" dirty="0"/>
          </a:p>
        </p:txBody>
      </p:sp>
      <p:sp>
        <p:nvSpPr>
          <p:cNvPr id="45" name="Shape 43"/>
          <p:cNvSpPr/>
          <p:nvPr/>
        </p:nvSpPr>
        <p:spPr>
          <a:xfrm>
            <a:off x="8247888" y="2194560"/>
            <a:ext cx="3300984" cy="2148840"/>
          </a:xfrm>
          <a:prstGeom prst="roundRect">
            <a:avLst>
              <a:gd name="adj" fmla="val 4681"/>
            </a:avLst>
          </a:prstGeom>
          <a:solidFill>
            <a:srgbClr val="141824"/>
          </a:solidFill>
          <a:ln w="12700">
            <a:solidFill>
              <a:srgbClr val="272E3E"/>
            </a:solidFill>
            <a:prstDash val="solid"/>
          </a:ln>
        </p:spPr>
      </p:sp>
      <p:sp>
        <p:nvSpPr>
          <p:cNvPr id="46" name="Text 44"/>
          <p:cNvSpPr/>
          <p:nvPr/>
        </p:nvSpPr>
        <p:spPr>
          <a:xfrm>
            <a:off x="8567928" y="2468880"/>
            <a:ext cx="2660904" cy="27432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PROCESS OUT</a:t>
            </a:r>
            <a:endParaRPr lang="en-US" sz="1200" dirty="0"/>
          </a:p>
        </p:txBody>
      </p:sp>
      <p:sp>
        <p:nvSpPr>
          <p:cNvPr id="47" name="Text 45"/>
          <p:cNvSpPr/>
          <p:nvPr/>
        </p:nvSpPr>
        <p:spPr>
          <a:xfrm>
            <a:off x="8567928" y="2761488"/>
            <a:ext cx="2660904" cy="411480"/>
          </a:xfrm>
          <a:prstGeom prst="rect">
            <a:avLst/>
          </a:prstGeom>
          <a:noFill/>
          <a:ln/>
        </p:spPr>
        <p:txBody>
          <a:bodyPr wrap="square" lIns="0" tIns="0" rIns="0" bIns="0" rtlCol="0" anchor="ctr"/>
          <a:lstStyle/>
          <a:p>
            <a:pPr indent="0" marL="0">
              <a:buNone/>
            </a:pPr>
            <a:r>
              <a:rPr lang="en-US" sz="1900" b="1" dirty="0">
                <a:solidFill>
                  <a:srgbClr val="F4F6F8"/>
                </a:solidFill>
                <a:latin typeface="Arial" pitchFamily="34" charset="0"/>
                <a:ea typeface="Arial" pitchFamily="34" charset="-122"/>
                <a:cs typeface="Arial" pitchFamily="34" charset="-120"/>
              </a:rPr>
              <a:t>Business rules</a:t>
            </a:r>
            <a:endParaRPr lang="en-US" sz="1900" dirty="0"/>
          </a:p>
        </p:txBody>
      </p:sp>
      <p:sp>
        <p:nvSpPr>
          <p:cNvPr id="48" name="Text 46"/>
          <p:cNvSpPr/>
          <p:nvPr/>
        </p:nvSpPr>
        <p:spPr>
          <a:xfrm>
            <a:off x="8567928" y="3218688"/>
            <a:ext cx="2660904" cy="1005840"/>
          </a:xfrm>
          <a:prstGeom prst="rect">
            <a:avLst/>
          </a:prstGeom>
          <a:noFill/>
          <a:ln/>
        </p:spPr>
        <p:txBody>
          <a:bodyPr wrap="square" lIns="0" tIns="0" rIns="0" bIns="0" rtlCol="0" anchor="t"/>
          <a:lstStyle/>
          <a:p>
            <a:pPr indent="0" marL="0">
              <a:lnSpc>
                <a:spcPct val="112000"/>
              </a:lnSpc>
              <a:buNone/>
            </a:pPr>
            <a:r>
              <a:rPr lang="en-US" sz="1250" dirty="0">
                <a:solidFill>
                  <a:srgbClr val="9AA3B2"/>
                </a:solidFill>
                <a:latin typeface="Arial" pitchFamily="34" charset="0"/>
                <a:ea typeface="Arial" pitchFamily="34" charset="-122"/>
                <a:cs typeface="Arial" pitchFamily="34" charset="-120"/>
              </a:rPr>
              <a:t>Defects open a supplier case. Sizing (once enough agree) updates the page. Delivery routes to logistics. Model output never decides.</a:t>
            </a:r>
            <a:endParaRPr lang="en-US" sz="1250" dirty="0"/>
          </a:p>
        </p:txBody>
      </p:sp>
      <p:sp>
        <p:nvSpPr>
          <p:cNvPr id="49" name="Shape 47"/>
          <p:cNvSpPr/>
          <p:nvPr/>
        </p:nvSpPr>
        <p:spPr>
          <a:xfrm>
            <a:off x="640080" y="4572000"/>
            <a:ext cx="5294376" cy="1234440"/>
          </a:xfrm>
          <a:prstGeom prst="roundRect">
            <a:avLst>
              <a:gd name="adj" fmla="val 8148"/>
            </a:avLst>
          </a:prstGeom>
          <a:solidFill>
            <a:srgbClr val="10131C"/>
          </a:solidFill>
          <a:ln w="12700">
            <a:solidFill>
              <a:srgbClr val="272E3E"/>
            </a:solidFill>
            <a:prstDash val="solid"/>
          </a:ln>
        </p:spPr>
      </p:sp>
      <p:sp>
        <p:nvSpPr>
          <p:cNvPr id="50" name="Text 48"/>
          <p:cNvSpPr/>
          <p:nvPr/>
        </p:nvSpPr>
        <p:spPr>
          <a:xfrm>
            <a:off x="1005840" y="4800600"/>
            <a:ext cx="4562856" cy="777240"/>
          </a:xfrm>
          <a:prstGeom prst="rect">
            <a:avLst/>
          </a:prstGeom>
          <a:noFill/>
          <a:ln/>
        </p:spPr>
        <p:txBody>
          <a:bodyPr wrap="square" lIns="0" tIns="0" rIns="0" bIns="0" rtlCol="0" anchor="ctr"/>
          <a:lstStyle/>
          <a:p>
            <a:pPr indent="0" marL="0">
              <a:lnSpc>
                <a:spcPct val="112000"/>
              </a:lnSpc>
              <a:buNone/>
            </a:pPr>
            <a:r>
              <a:rPr lang="en-US" sz="1400" b="1" dirty="0">
                <a:solidFill>
                  <a:srgbClr val="A78BFA"/>
                </a:solidFill>
                <a:latin typeface="Arial" pitchFamily="34" charset="0"/>
                <a:ea typeface="Arial" pitchFamily="34" charset="-122"/>
                <a:cs typeface="Arial" pitchFamily="34" charset="-120"/>
              </a:rPr>
              <a:t>Kestra's differentiator: authorship.  </a:t>
            </a:r>
            <a:pPr indent="0" marL="0">
              <a:lnSpc>
                <a:spcPct val="112000"/>
              </a:lnSpc>
              <a:buNone/>
            </a:pPr>
            <a:r>
              <a:rPr lang="en-US" sz="1400" dirty="0">
                <a:solidFill>
                  <a:srgbClr val="9AA3B2"/>
                </a:solidFill>
                <a:latin typeface="Arial" pitchFamily="34" charset="0"/>
                <a:ea typeface="Arial" pitchFamily="34" charset="-122"/>
                <a:cs typeface="Arial" pitchFamily="34" charset="-120"/>
              </a:rPr>
              <a:t>Declarative YAML — the analyst who owns the rule ships the flow herself, instead of waiting two sprints for an engineer.</a:t>
            </a:r>
            <a:endParaRPr lang="en-US" sz="1400" dirty="0"/>
          </a:p>
        </p:txBody>
      </p:sp>
      <p:sp>
        <p:nvSpPr>
          <p:cNvPr id="51" name="Shape 49"/>
          <p:cNvSpPr/>
          <p:nvPr/>
        </p:nvSpPr>
        <p:spPr>
          <a:xfrm>
            <a:off x="6254496" y="4572000"/>
            <a:ext cx="5294376" cy="1234440"/>
          </a:xfrm>
          <a:prstGeom prst="roundRect">
            <a:avLst>
              <a:gd name="adj" fmla="val 8148"/>
            </a:avLst>
          </a:prstGeom>
          <a:solidFill>
            <a:srgbClr val="10131C"/>
          </a:solidFill>
          <a:ln w="12700">
            <a:solidFill>
              <a:srgbClr val="272E3E"/>
            </a:solidFill>
            <a:prstDash val="solid"/>
          </a:ln>
        </p:spPr>
      </p:sp>
      <p:sp>
        <p:nvSpPr>
          <p:cNvPr id="52" name="Text 50"/>
          <p:cNvSpPr/>
          <p:nvPr/>
        </p:nvSpPr>
        <p:spPr>
          <a:xfrm>
            <a:off x="6620256" y="4800600"/>
            <a:ext cx="4562856" cy="777240"/>
          </a:xfrm>
          <a:prstGeom prst="rect">
            <a:avLst/>
          </a:prstGeom>
          <a:noFill/>
          <a:ln/>
        </p:spPr>
        <p:txBody>
          <a:bodyPr wrap="square" lIns="0" tIns="0" rIns="0" bIns="0" rtlCol="0" anchor="ctr"/>
          <a:lstStyle/>
          <a:p>
            <a:pPr indent="0" marL="0">
              <a:lnSpc>
                <a:spcPct val="112000"/>
              </a:lnSpc>
              <a:buNone/>
            </a:pPr>
            <a:r>
              <a:rPr lang="en-US" sz="1400" b="1" dirty="0">
                <a:solidFill>
                  <a:srgbClr val="F4F6F8"/>
                </a:solidFill>
                <a:latin typeface="Arial" pitchFamily="34" charset="0"/>
                <a:ea typeface="Arial" pitchFamily="34" charset="-122"/>
                <a:cs typeface="Arial" pitchFamily="34" charset="-120"/>
              </a:rPr>
              <a:t>The verdict is a proposal, never an action.  </a:t>
            </a:r>
            <a:pPr indent="0" marL="0">
              <a:lnSpc>
                <a:spcPct val="112000"/>
              </a:lnSpc>
              <a:buNone/>
            </a:pPr>
            <a:r>
              <a:rPr lang="en-US" sz="1400" dirty="0">
                <a:solidFill>
                  <a:srgbClr val="9AA3B2"/>
                </a:solidFill>
                <a:latin typeface="Arial" pitchFamily="34" charset="0"/>
                <a:ea typeface="Arial" pitchFamily="34" charset="-122"/>
                <a:cs typeface="Arial" pitchFamily="34" charset="-120"/>
              </a:rPr>
              <a:t>The flow decides what happens. The agent only decides what's true — a knob the category manager can turn, not a developer ticket.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07 — AGENTIC</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8 / 11</a:t>
            </a:r>
            <a:endParaRPr lang="en-US" sz="1000" dirty="0"/>
          </a:p>
        </p:txBody>
      </p:sp>
      <p:sp>
        <p:nvSpPr>
          <p:cNvPr id="23" name="Shape 21"/>
          <p:cNvSpPr/>
          <p:nvPr/>
        </p:nvSpPr>
        <p:spPr>
          <a:xfrm flipV="1">
            <a:off x="594360" y="713232"/>
            <a:ext cx="411480" cy="457200"/>
          </a:xfrm>
          <a:prstGeom prst="line">
            <a:avLst/>
          </a:prstGeom>
          <a:noFill/>
          <a:ln w="25400">
            <a:solidFill>
              <a:srgbClr val="4ADE80"/>
            </a:solidFill>
            <a:prstDash val="solid"/>
          </a:ln>
        </p:spPr>
      </p:sp>
      <p:sp>
        <p:nvSpPr>
          <p:cNvPr id="24" name="Shape 22"/>
          <p:cNvSpPr/>
          <p:nvPr/>
        </p:nvSpPr>
        <p:spPr>
          <a:xfrm>
            <a:off x="1005840" y="713232"/>
            <a:ext cx="411480" cy="457200"/>
          </a:xfrm>
          <a:prstGeom prst="line">
            <a:avLst/>
          </a:prstGeom>
          <a:noFill/>
          <a:ln w="25400">
            <a:solidFill>
              <a:srgbClr val="4ADE80"/>
            </a:solidFill>
            <a:prstDash val="solid"/>
          </a:ln>
        </p:spPr>
      </p:sp>
      <p:sp>
        <p:nvSpPr>
          <p:cNvPr id="25" name="Shape 23"/>
          <p:cNvSpPr/>
          <p:nvPr/>
        </p:nvSpPr>
        <p:spPr>
          <a:xfrm flipV="1">
            <a:off x="413309" y="1170432"/>
            <a:ext cx="181051" cy="457200"/>
          </a:xfrm>
          <a:prstGeom prst="line">
            <a:avLst/>
          </a:prstGeom>
          <a:noFill/>
          <a:ln w="25400">
            <a:solidFill>
              <a:srgbClr val="4ADE80"/>
            </a:solidFill>
            <a:prstDash val="solid"/>
          </a:ln>
        </p:spPr>
      </p:sp>
      <p:sp>
        <p:nvSpPr>
          <p:cNvPr id="26" name="Shape 24"/>
          <p:cNvSpPr/>
          <p:nvPr/>
        </p:nvSpPr>
        <p:spPr>
          <a:xfrm>
            <a:off x="594360" y="1170432"/>
            <a:ext cx="312725" cy="457200"/>
          </a:xfrm>
          <a:prstGeom prst="line">
            <a:avLst/>
          </a:prstGeom>
          <a:noFill/>
          <a:ln w="25400">
            <a:solidFill>
              <a:srgbClr val="4ADE80"/>
            </a:solidFill>
            <a:prstDash val="solid"/>
          </a:ln>
        </p:spPr>
      </p:sp>
      <p:sp>
        <p:nvSpPr>
          <p:cNvPr id="27" name="Shape 25"/>
          <p:cNvSpPr/>
          <p:nvPr/>
        </p:nvSpPr>
        <p:spPr>
          <a:xfrm>
            <a:off x="1417320" y="1170432"/>
            <a:ext cx="82296" cy="457200"/>
          </a:xfrm>
          <a:prstGeom prst="line">
            <a:avLst/>
          </a:prstGeom>
          <a:noFill/>
          <a:ln w="25400">
            <a:solidFill>
              <a:srgbClr val="4ADE80"/>
            </a:solidFill>
            <a:prstDash val="dash"/>
          </a:ln>
        </p:spPr>
      </p:sp>
      <p:sp>
        <p:nvSpPr>
          <p:cNvPr id="28" name="Shape 26"/>
          <p:cNvSpPr/>
          <p:nvPr/>
        </p:nvSpPr>
        <p:spPr>
          <a:xfrm>
            <a:off x="921258" y="628650"/>
            <a:ext cx="169164" cy="169164"/>
          </a:xfrm>
          <a:prstGeom prst="ellipse">
            <a:avLst/>
          </a:prstGeom>
          <a:solidFill>
            <a:srgbClr val="0A0C10"/>
          </a:solidFill>
          <a:ln w="31750">
            <a:solidFill>
              <a:srgbClr val="4ADE80"/>
            </a:solidFill>
            <a:prstDash val="solid"/>
          </a:ln>
        </p:spPr>
      </p:sp>
      <p:sp>
        <p:nvSpPr>
          <p:cNvPr id="29" name="Shape 27"/>
          <p:cNvSpPr/>
          <p:nvPr/>
        </p:nvSpPr>
        <p:spPr>
          <a:xfrm>
            <a:off x="509778" y="1085850"/>
            <a:ext cx="169164" cy="169164"/>
          </a:xfrm>
          <a:prstGeom prst="ellipse">
            <a:avLst/>
          </a:prstGeom>
          <a:solidFill>
            <a:srgbClr val="0A0C10"/>
          </a:solidFill>
          <a:ln w="31750">
            <a:solidFill>
              <a:srgbClr val="4ADE80"/>
            </a:solidFill>
            <a:prstDash val="solid"/>
          </a:ln>
        </p:spPr>
      </p:sp>
      <p:sp>
        <p:nvSpPr>
          <p:cNvPr id="30" name="Shape 28"/>
          <p:cNvSpPr/>
          <p:nvPr/>
        </p:nvSpPr>
        <p:spPr>
          <a:xfrm>
            <a:off x="1332738" y="1085850"/>
            <a:ext cx="169164" cy="169164"/>
          </a:xfrm>
          <a:prstGeom prst="ellipse">
            <a:avLst/>
          </a:prstGeom>
          <a:solidFill>
            <a:srgbClr val="0A0C10"/>
          </a:solidFill>
          <a:ln w="31750">
            <a:solidFill>
              <a:srgbClr val="4ADE80"/>
            </a:solidFill>
            <a:prstDash val="solid"/>
          </a:ln>
        </p:spPr>
      </p:sp>
      <p:sp>
        <p:nvSpPr>
          <p:cNvPr id="31" name="Shape 29"/>
          <p:cNvSpPr/>
          <p:nvPr/>
        </p:nvSpPr>
        <p:spPr>
          <a:xfrm>
            <a:off x="328727" y="1543050"/>
            <a:ext cx="169164" cy="169164"/>
          </a:xfrm>
          <a:prstGeom prst="ellipse">
            <a:avLst/>
          </a:prstGeom>
          <a:solidFill>
            <a:srgbClr val="0A0C10"/>
          </a:solidFill>
          <a:ln w="31750">
            <a:solidFill>
              <a:srgbClr val="4ADE80"/>
            </a:solidFill>
            <a:prstDash val="solid"/>
          </a:ln>
        </p:spPr>
      </p:sp>
      <p:sp>
        <p:nvSpPr>
          <p:cNvPr id="32" name="Shape 30"/>
          <p:cNvSpPr/>
          <p:nvPr/>
        </p:nvSpPr>
        <p:spPr>
          <a:xfrm>
            <a:off x="822503" y="1543050"/>
            <a:ext cx="169164" cy="169164"/>
          </a:xfrm>
          <a:prstGeom prst="ellipse">
            <a:avLst/>
          </a:prstGeom>
          <a:solidFill>
            <a:srgbClr val="0A0C10"/>
          </a:solidFill>
          <a:ln w="31750">
            <a:solidFill>
              <a:srgbClr val="4ADE80"/>
            </a:solidFill>
            <a:prstDash val="solid"/>
          </a:ln>
        </p:spPr>
      </p:sp>
      <p:sp>
        <p:nvSpPr>
          <p:cNvPr id="33" name="Shape 31"/>
          <p:cNvSpPr/>
          <p:nvPr/>
        </p:nvSpPr>
        <p:spPr>
          <a:xfrm>
            <a:off x="1415034" y="1543050"/>
            <a:ext cx="169164" cy="169164"/>
          </a:xfrm>
          <a:prstGeom prst="ellipse">
            <a:avLst/>
          </a:prstGeom>
          <a:solidFill>
            <a:srgbClr val="0A0C10"/>
          </a:solidFill>
          <a:ln w="31750">
            <a:solidFill>
              <a:srgbClr val="4ADE80"/>
            </a:solidFill>
            <a:prstDash val="dash"/>
          </a:ln>
        </p:spPr>
      </p:sp>
      <p:sp>
        <p:nvSpPr>
          <p:cNvPr id="34" name="Text 32"/>
          <p:cNvSpPr/>
          <p:nvPr/>
        </p:nvSpPr>
        <p:spPr>
          <a:xfrm>
            <a:off x="1691640" y="749808"/>
            <a:ext cx="8229600" cy="640080"/>
          </a:xfrm>
          <a:prstGeom prst="rect">
            <a:avLst/>
          </a:prstGeom>
          <a:noFill/>
          <a:ln/>
        </p:spPr>
        <p:txBody>
          <a:bodyPr wrap="square" lIns="0" tIns="0" rIns="0" bIns="0" rtlCol="0" anchor="ctr"/>
          <a:lstStyle/>
          <a:p>
            <a:pPr indent="0" marL="0">
              <a:buNone/>
            </a:pPr>
            <a:r>
              <a:rPr lang="en-US" sz="3400" b="1" dirty="0">
                <a:solidFill>
                  <a:srgbClr val="F4F6F8"/>
                </a:solidFill>
                <a:latin typeface="Arial" pitchFamily="34" charset="0"/>
                <a:ea typeface="Arial" pitchFamily="34" charset="-122"/>
                <a:cs typeface="Arial" pitchFamily="34" charset="-120"/>
              </a:rPr>
              <a:t>The detective.</a:t>
            </a:r>
            <a:endParaRPr lang="en-US" sz="3400" dirty="0"/>
          </a:p>
        </p:txBody>
      </p:sp>
      <p:sp>
        <p:nvSpPr>
          <p:cNvPr id="35" name="Text 33"/>
          <p:cNvSpPr/>
          <p:nvPr/>
        </p:nvSpPr>
        <p:spPr>
          <a:xfrm>
            <a:off x="1691640" y="1389888"/>
            <a:ext cx="9692640" cy="365760"/>
          </a:xfrm>
          <a:prstGeom prst="rect">
            <a:avLst/>
          </a:prstGeom>
          <a:noFill/>
          <a:ln/>
        </p:spPr>
        <p:txBody>
          <a:bodyPr wrap="square" lIns="0" tIns="0" rIns="0" bIns="0" rtlCol="0" anchor="ctr"/>
          <a:lstStyle/>
          <a:p>
            <a:pPr indent="0" marL="0">
              <a:buNone/>
            </a:pPr>
            <a:r>
              <a:rPr lang="en-US" sz="1500" dirty="0">
                <a:solidFill>
                  <a:srgbClr val="9AA3B2"/>
                </a:solidFill>
                <a:latin typeface="Arial" pitchFamily="34" charset="0"/>
                <a:ea typeface="Arial" pitchFamily="34" charset="-122"/>
                <a:cs typeface="Arial" pitchFamily="34" charset="-120"/>
              </a:rPr>
              <a:t>The one category that breaks the pattern: the graph is an output of the run, not an input to it.</a:t>
            </a:r>
            <a:endParaRPr lang="en-US" sz="1500" dirty="0"/>
          </a:p>
        </p:txBody>
      </p:sp>
      <p:sp>
        <p:nvSpPr>
          <p:cNvPr id="36" name="Shape 34"/>
          <p:cNvSpPr/>
          <p:nvPr/>
        </p:nvSpPr>
        <p:spPr>
          <a:xfrm>
            <a:off x="640080" y="2148840"/>
            <a:ext cx="2880360" cy="1298448"/>
          </a:xfrm>
          <a:prstGeom prst="roundRect">
            <a:avLst>
              <a:gd name="adj" fmla="val 7746"/>
            </a:avLst>
          </a:prstGeom>
          <a:solidFill>
            <a:srgbClr val="141824"/>
          </a:solidFill>
          <a:ln w="12700">
            <a:solidFill>
              <a:srgbClr val="272E3E"/>
            </a:solidFill>
            <a:prstDash val="solid"/>
          </a:ln>
        </p:spPr>
      </p:sp>
      <p:sp>
        <p:nvSpPr>
          <p:cNvPr id="37" name="Shape 35"/>
          <p:cNvSpPr/>
          <p:nvPr/>
        </p:nvSpPr>
        <p:spPr>
          <a:xfrm>
            <a:off x="937260" y="2464308"/>
            <a:ext cx="137160" cy="137160"/>
          </a:xfrm>
          <a:prstGeom prst="ellipse">
            <a:avLst/>
          </a:prstGeom>
          <a:solidFill>
            <a:srgbClr val="4ADE80"/>
          </a:solidFill>
          <a:ln w="12700">
            <a:solidFill>
              <a:srgbClr val="4ADE80"/>
            </a:solidFill>
            <a:prstDash val="solid"/>
          </a:ln>
        </p:spPr>
      </p:sp>
      <p:sp>
        <p:nvSpPr>
          <p:cNvPr id="38" name="Text 36"/>
          <p:cNvSpPr/>
          <p:nvPr/>
        </p:nvSpPr>
        <p:spPr>
          <a:xfrm>
            <a:off x="1207008" y="2386584"/>
            <a:ext cx="2011680" cy="320040"/>
          </a:xfrm>
          <a:prstGeom prst="rect">
            <a:avLst/>
          </a:prstGeom>
          <a:noFill/>
          <a:ln/>
        </p:spPr>
        <p:txBody>
          <a:bodyPr wrap="square" lIns="0" tIns="0" rIns="0" bIns="0" rtlCol="0" anchor="ctr"/>
          <a:lstStyle/>
          <a:p>
            <a:pPr indent="0" marL="0">
              <a:buNone/>
            </a:pPr>
            <a:r>
              <a:rPr lang="en-US" sz="1550" b="1" dirty="0">
                <a:solidFill>
                  <a:srgbClr val="F4F6F8"/>
                </a:solidFill>
                <a:latin typeface="Arial" pitchFamily="34" charset="0"/>
                <a:ea typeface="Arial" pitchFamily="34" charset="-122"/>
                <a:cs typeface="Arial" pitchFamily="34" charset="-120"/>
              </a:rPr>
              <a:t>Checkpointing &amp; resume</a:t>
            </a:r>
            <a:endParaRPr lang="en-US" sz="1550" dirty="0"/>
          </a:p>
        </p:txBody>
      </p:sp>
      <p:sp>
        <p:nvSpPr>
          <p:cNvPr id="39" name="Text 37"/>
          <p:cNvSpPr/>
          <p:nvPr/>
        </p:nvSpPr>
        <p:spPr>
          <a:xfrm>
            <a:off x="1005840" y="2825496"/>
            <a:ext cx="2194560" cy="530352"/>
          </a:xfrm>
          <a:prstGeom prst="rect">
            <a:avLst/>
          </a:prstGeom>
          <a:noFill/>
          <a:ln/>
        </p:spPr>
        <p:txBody>
          <a:bodyPr wrap="square" lIns="0" tIns="0" rIns="0" bIns="0" rtlCol="0" anchor="t"/>
          <a:lstStyle/>
          <a:p>
            <a:pPr indent="0" marL="0">
              <a:lnSpc>
                <a:spcPct val="110000"/>
              </a:lnSpc>
              <a:buNone/>
            </a:pPr>
            <a:r>
              <a:rPr lang="en-US" sz="1250" dirty="0">
                <a:solidFill>
                  <a:srgbClr val="9AA3B2"/>
                </a:solidFill>
                <a:latin typeface="Arial" pitchFamily="34" charset="0"/>
                <a:ea typeface="Arial" pitchFamily="34" charset="-122"/>
                <a:cs typeface="Arial" pitchFamily="34" charset="-120"/>
              </a:rPr>
              <a:t>State saved after every stage so a session resumes from the middle.</a:t>
            </a:r>
            <a:endParaRPr lang="en-US" sz="1250" dirty="0"/>
          </a:p>
        </p:txBody>
      </p:sp>
      <p:sp>
        <p:nvSpPr>
          <p:cNvPr id="40" name="Shape 38"/>
          <p:cNvSpPr/>
          <p:nvPr/>
        </p:nvSpPr>
        <p:spPr>
          <a:xfrm>
            <a:off x="3794760" y="2148840"/>
            <a:ext cx="2880360" cy="1298448"/>
          </a:xfrm>
          <a:prstGeom prst="roundRect">
            <a:avLst>
              <a:gd name="adj" fmla="val 7746"/>
            </a:avLst>
          </a:prstGeom>
          <a:solidFill>
            <a:srgbClr val="141824"/>
          </a:solidFill>
          <a:ln w="12700">
            <a:solidFill>
              <a:srgbClr val="272E3E"/>
            </a:solidFill>
            <a:prstDash val="solid"/>
          </a:ln>
        </p:spPr>
      </p:sp>
      <p:sp>
        <p:nvSpPr>
          <p:cNvPr id="41" name="Shape 39"/>
          <p:cNvSpPr/>
          <p:nvPr/>
        </p:nvSpPr>
        <p:spPr>
          <a:xfrm>
            <a:off x="4091940" y="2464308"/>
            <a:ext cx="137160" cy="137160"/>
          </a:xfrm>
          <a:prstGeom prst="ellipse">
            <a:avLst/>
          </a:prstGeom>
          <a:solidFill>
            <a:srgbClr val="4ADE80"/>
          </a:solidFill>
          <a:ln w="12700">
            <a:solidFill>
              <a:srgbClr val="4ADE80"/>
            </a:solidFill>
            <a:prstDash val="solid"/>
          </a:ln>
        </p:spPr>
      </p:sp>
      <p:sp>
        <p:nvSpPr>
          <p:cNvPr id="42" name="Text 40"/>
          <p:cNvSpPr/>
          <p:nvPr/>
        </p:nvSpPr>
        <p:spPr>
          <a:xfrm>
            <a:off x="4361688" y="2386584"/>
            <a:ext cx="2011680" cy="320040"/>
          </a:xfrm>
          <a:prstGeom prst="rect">
            <a:avLst/>
          </a:prstGeom>
          <a:noFill/>
          <a:ln/>
        </p:spPr>
        <p:txBody>
          <a:bodyPr wrap="square" lIns="0" tIns="0" rIns="0" bIns="0" rtlCol="0" anchor="ctr"/>
          <a:lstStyle/>
          <a:p>
            <a:pPr indent="0" marL="0">
              <a:buNone/>
            </a:pPr>
            <a:r>
              <a:rPr lang="en-US" sz="1550" b="1" dirty="0">
                <a:solidFill>
                  <a:srgbClr val="F4F6F8"/>
                </a:solidFill>
                <a:latin typeface="Arial" pitchFamily="34" charset="0"/>
                <a:ea typeface="Arial" pitchFamily="34" charset="-122"/>
                <a:cs typeface="Arial" pitchFamily="34" charset="-120"/>
              </a:rPr>
              <a:t>Bounded concurrency</a:t>
            </a:r>
            <a:endParaRPr lang="en-US" sz="1550" dirty="0"/>
          </a:p>
        </p:txBody>
      </p:sp>
      <p:sp>
        <p:nvSpPr>
          <p:cNvPr id="43" name="Text 41"/>
          <p:cNvSpPr/>
          <p:nvPr/>
        </p:nvSpPr>
        <p:spPr>
          <a:xfrm>
            <a:off x="4160520" y="2825496"/>
            <a:ext cx="2194560" cy="530352"/>
          </a:xfrm>
          <a:prstGeom prst="rect">
            <a:avLst/>
          </a:prstGeom>
          <a:noFill/>
          <a:ln/>
        </p:spPr>
        <p:txBody>
          <a:bodyPr wrap="square" lIns="0" tIns="0" rIns="0" bIns="0" rtlCol="0" anchor="t"/>
          <a:lstStyle/>
          <a:p>
            <a:pPr indent="0" marL="0">
              <a:lnSpc>
                <a:spcPct val="110000"/>
              </a:lnSpc>
              <a:buNone/>
            </a:pPr>
            <a:r>
              <a:rPr lang="en-US" sz="1250" dirty="0">
                <a:solidFill>
                  <a:srgbClr val="9AA3B2"/>
                </a:solidFill>
                <a:latin typeface="Arial" pitchFamily="34" charset="0"/>
                <a:ea typeface="Arial" pitchFamily="34" charset="-122"/>
                <a:cs typeface="Arial" pitchFamily="34" charset="-120"/>
              </a:rPr>
              <a:t>Topological sort into dependency batches, run under a semaphore.</a:t>
            </a:r>
            <a:endParaRPr lang="en-US" sz="1250" dirty="0"/>
          </a:p>
        </p:txBody>
      </p:sp>
      <p:sp>
        <p:nvSpPr>
          <p:cNvPr id="44" name="Shape 42"/>
          <p:cNvSpPr/>
          <p:nvPr/>
        </p:nvSpPr>
        <p:spPr>
          <a:xfrm>
            <a:off x="640080" y="3721608"/>
            <a:ext cx="2880360" cy="1298448"/>
          </a:xfrm>
          <a:prstGeom prst="roundRect">
            <a:avLst>
              <a:gd name="adj" fmla="val 7746"/>
            </a:avLst>
          </a:prstGeom>
          <a:solidFill>
            <a:srgbClr val="141824"/>
          </a:solidFill>
          <a:ln w="12700">
            <a:solidFill>
              <a:srgbClr val="272E3E"/>
            </a:solidFill>
            <a:prstDash val="solid"/>
          </a:ln>
        </p:spPr>
      </p:sp>
      <p:sp>
        <p:nvSpPr>
          <p:cNvPr id="45" name="Shape 43"/>
          <p:cNvSpPr/>
          <p:nvPr/>
        </p:nvSpPr>
        <p:spPr>
          <a:xfrm>
            <a:off x="937260" y="4037076"/>
            <a:ext cx="137160" cy="137160"/>
          </a:xfrm>
          <a:prstGeom prst="ellipse">
            <a:avLst/>
          </a:prstGeom>
          <a:solidFill>
            <a:srgbClr val="4ADE80"/>
          </a:solidFill>
          <a:ln w="12700">
            <a:solidFill>
              <a:srgbClr val="4ADE80"/>
            </a:solidFill>
            <a:prstDash val="solid"/>
          </a:ln>
        </p:spPr>
      </p:sp>
      <p:sp>
        <p:nvSpPr>
          <p:cNvPr id="46" name="Text 44"/>
          <p:cNvSpPr/>
          <p:nvPr/>
        </p:nvSpPr>
        <p:spPr>
          <a:xfrm>
            <a:off x="1207008" y="3959352"/>
            <a:ext cx="2011680" cy="320040"/>
          </a:xfrm>
          <a:prstGeom prst="rect">
            <a:avLst/>
          </a:prstGeom>
          <a:noFill/>
          <a:ln/>
        </p:spPr>
        <p:txBody>
          <a:bodyPr wrap="square" lIns="0" tIns="0" rIns="0" bIns="0" rtlCol="0" anchor="ctr"/>
          <a:lstStyle/>
          <a:p>
            <a:pPr indent="0" marL="0">
              <a:buNone/>
            </a:pPr>
            <a:r>
              <a:rPr lang="en-US" sz="1550" b="1" dirty="0">
                <a:solidFill>
                  <a:srgbClr val="F4F6F8"/>
                </a:solidFill>
                <a:latin typeface="Arial" pitchFamily="34" charset="0"/>
                <a:ea typeface="Arial" pitchFamily="34" charset="-122"/>
                <a:cs typeface="Arial" pitchFamily="34" charset="-120"/>
              </a:rPr>
              <a:t>Per-task isolation</a:t>
            </a:r>
            <a:endParaRPr lang="en-US" sz="1550" dirty="0"/>
          </a:p>
        </p:txBody>
      </p:sp>
      <p:sp>
        <p:nvSpPr>
          <p:cNvPr id="47" name="Text 45"/>
          <p:cNvSpPr/>
          <p:nvPr/>
        </p:nvSpPr>
        <p:spPr>
          <a:xfrm>
            <a:off x="1005840" y="4398264"/>
            <a:ext cx="2194560" cy="530352"/>
          </a:xfrm>
          <a:prstGeom prst="rect">
            <a:avLst/>
          </a:prstGeom>
          <a:noFill/>
          <a:ln/>
        </p:spPr>
        <p:txBody>
          <a:bodyPr wrap="square" lIns="0" tIns="0" rIns="0" bIns="0" rtlCol="0" anchor="t"/>
          <a:lstStyle/>
          <a:p>
            <a:pPr indent="0" marL="0">
              <a:lnSpc>
                <a:spcPct val="110000"/>
              </a:lnSpc>
              <a:buNone/>
            </a:pPr>
            <a:r>
              <a:rPr lang="en-US" sz="1250" dirty="0">
                <a:solidFill>
                  <a:srgbClr val="9AA3B2"/>
                </a:solidFill>
                <a:latin typeface="Arial" pitchFamily="34" charset="0"/>
                <a:ea typeface="Arial" pitchFamily="34" charset="-122"/>
                <a:cs typeface="Arial" pitchFamily="34" charset="-120"/>
              </a:rPr>
              <a:t>A factory routes each task to whichever specialist agent fits.</a:t>
            </a:r>
            <a:endParaRPr lang="en-US" sz="1250" dirty="0"/>
          </a:p>
        </p:txBody>
      </p:sp>
      <p:sp>
        <p:nvSpPr>
          <p:cNvPr id="48" name="Shape 46"/>
          <p:cNvSpPr/>
          <p:nvPr/>
        </p:nvSpPr>
        <p:spPr>
          <a:xfrm>
            <a:off x="3794760" y="3721608"/>
            <a:ext cx="2880360" cy="1298448"/>
          </a:xfrm>
          <a:prstGeom prst="roundRect">
            <a:avLst>
              <a:gd name="adj" fmla="val 7746"/>
            </a:avLst>
          </a:prstGeom>
          <a:solidFill>
            <a:srgbClr val="141824"/>
          </a:solidFill>
          <a:ln w="12700">
            <a:solidFill>
              <a:srgbClr val="272E3E"/>
            </a:solidFill>
            <a:prstDash val="solid"/>
          </a:ln>
        </p:spPr>
      </p:sp>
      <p:sp>
        <p:nvSpPr>
          <p:cNvPr id="49" name="Shape 47"/>
          <p:cNvSpPr/>
          <p:nvPr/>
        </p:nvSpPr>
        <p:spPr>
          <a:xfrm>
            <a:off x="4091940" y="4037076"/>
            <a:ext cx="137160" cy="137160"/>
          </a:xfrm>
          <a:prstGeom prst="ellipse">
            <a:avLst/>
          </a:prstGeom>
          <a:solidFill>
            <a:srgbClr val="4ADE80"/>
          </a:solidFill>
          <a:ln w="12700">
            <a:solidFill>
              <a:srgbClr val="4ADE80"/>
            </a:solidFill>
            <a:prstDash val="solid"/>
          </a:ln>
        </p:spPr>
      </p:sp>
      <p:sp>
        <p:nvSpPr>
          <p:cNvPr id="50" name="Text 48"/>
          <p:cNvSpPr/>
          <p:nvPr/>
        </p:nvSpPr>
        <p:spPr>
          <a:xfrm>
            <a:off x="4361688" y="3959352"/>
            <a:ext cx="2011680" cy="320040"/>
          </a:xfrm>
          <a:prstGeom prst="rect">
            <a:avLst/>
          </a:prstGeom>
          <a:noFill/>
          <a:ln/>
        </p:spPr>
        <p:txBody>
          <a:bodyPr wrap="square" lIns="0" tIns="0" rIns="0" bIns="0" rtlCol="0" anchor="ctr"/>
          <a:lstStyle/>
          <a:p>
            <a:pPr indent="0" marL="0">
              <a:buNone/>
            </a:pPr>
            <a:r>
              <a:rPr lang="en-US" sz="1550" b="1" dirty="0">
                <a:solidFill>
                  <a:srgbClr val="F4F6F8"/>
                </a:solidFill>
                <a:latin typeface="Arial" pitchFamily="34" charset="0"/>
                <a:ea typeface="Arial" pitchFamily="34" charset="-122"/>
                <a:cs typeface="Arial" pitchFamily="34" charset="-120"/>
              </a:rPr>
              <a:t>Recursive state</a:t>
            </a:r>
            <a:endParaRPr lang="en-US" sz="1550" dirty="0"/>
          </a:p>
        </p:txBody>
      </p:sp>
      <p:sp>
        <p:nvSpPr>
          <p:cNvPr id="51" name="Text 49"/>
          <p:cNvSpPr/>
          <p:nvPr/>
        </p:nvSpPr>
        <p:spPr>
          <a:xfrm>
            <a:off x="4160520" y="4398264"/>
            <a:ext cx="2194560" cy="530352"/>
          </a:xfrm>
          <a:prstGeom prst="rect">
            <a:avLst/>
          </a:prstGeom>
          <a:noFill/>
          <a:ln/>
        </p:spPr>
        <p:txBody>
          <a:bodyPr wrap="square" lIns="0" tIns="0" rIns="0" bIns="0" rtlCol="0" anchor="t"/>
          <a:lstStyle/>
          <a:p>
            <a:pPr indent="0" marL="0">
              <a:lnSpc>
                <a:spcPct val="110000"/>
              </a:lnSpc>
              <a:buNone/>
            </a:pPr>
            <a:r>
              <a:rPr lang="en-US" sz="1250" dirty="0">
                <a:solidFill>
                  <a:srgbClr val="9AA3B2"/>
                </a:solidFill>
                <a:latin typeface="Arial" pitchFamily="34" charset="0"/>
                <a:ea typeface="Arial" pitchFamily="34" charset="-122"/>
                <a:cs typeface="Arial" pitchFamily="34" charset="-120"/>
              </a:rPr>
              <a:t>One analysis spawns child analyses — state trees, not a list.</a:t>
            </a:r>
            <a:endParaRPr lang="en-US" sz="1250" dirty="0"/>
          </a:p>
        </p:txBody>
      </p:sp>
      <p:sp>
        <p:nvSpPr>
          <p:cNvPr id="52" name="Shape 50"/>
          <p:cNvSpPr/>
          <p:nvPr/>
        </p:nvSpPr>
        <p:spPr>
          <a:xfrm>
            <a:off x="6995160" y="2148840"/>
            <a:ext cx="4553712" cy="2871216"/>
          </a:xfrm>
          <a:prstGeom prst="roundRect">
            <a:avLst>
              <a:gd name="adj" fmla="val 3503"/>
            </a:avLst>
          </a:prstGeom>
          <a:solidFill>
            <a:srgbClr val="10131C"/>
          </a:solidFill>
          <a:ln w="12700">
            <a:solidFill>
              <a:srgbClr val="2C3A2E"/>
            </a:solidFill>
            <a:prstDash val="solid"/>
          </a:ln>
        </p:spPr>
      </p:sp>
      <p:sp>
        <p:nvSpPr>
          <p:cNvPr id="53" name="Text 51"/>
          <p:cNvSpPr/>
          <p:nvPr/>
        </p:nvSpPr>
        <p:spPr>
          <a:xfrm>
            <a:off x="7360920" y="2468880"/>
            <a:ext cx="3822192" cy="274320"/>
          </a:xfrm>
          <a:prstGeom prst="rect">
            <a:avLst/>
          </a:prstGeom>
          <a:noFill/>
          <a:ln/>
        </p:spPr>
        <p:txBody>
          <a:bodyPr wrap="square" lIns="0" tIns="0" rIns="0" bIns="0" rtlCol="0" anchor="ctr"/>
          <a:lstStyle/>
          <a:p>
            <a:pPr indent="0" marL="0">
              <a:buNone/>
            </a:pPr>
            <a:r>
              <a:rPr lang="en-US" sz="1200" b="1" spc="150" kern="0" dirty="0">
                <a:solidFill>
                  <a:srgbClr val="4ADE80"/>
                </a:solidFill>
                <a:latin typeface="Courier New" pitchFamily="34" charset="0"/>
                <a:ea typeface="Courier New" pitchFamily="34" charset="-122"/>
                <a:cs typeface="Courier New" pitchFamily="34" charset="-120"/>
              </a:rPr>
              <a:t>NONE OF IT CAME IN THE BOX</a:t>
            </a:r>
            <a:endParaRPr lang="en-US" sz="1200" dirty="0"/>
          </a:p>
        </p:txBody>
      </p:sp>
      <p:sp>
        <p:nvSpPr>
          <p:cNvPr id="54" name="Text 52"/>
          <p:cNvSpPr/>
          <p:nvPr/>
        </p:nvSpPr>
        <p:spPr>
          <a:xfrm>
            <a:off x="7360920" y="2880360"/>
            <a:ext cx="3822192" cy="1371600"/>
          </a:xfrm>
          <a:prstGeom prst="rect">
            <a:avLst/>
          </a:prstGeom>
          <a:noFill/>
          <a:ln/>
        </p:spPr>
        <p:txBody>
          <a:bodyPr wrap="square" lIns="0" tIns="0" rIns="0" bIns="0" rtlCol="0" anchor="t"/>
          <a:lstStyle/>
          <a:p>
            <a:pPr indent="0" marL="0">
              <a:lnSpc>
                <a:spcPct val="115000"/>
              </a:lnSpc>
              <a:buNone/>
            </a:pPr>
            <a:r>
              <a:rPr lang="en-US" sz="1450" dirty="0">
                <a:solidFill>
                  <a:srgbClr val="9AA3B2"/>
                </a:solidFill>
                <a:latin typeface="Arial" pitchFamily="34" charset="0"/>
                <a:ea typeface="Arial" pitchFamily="34" charset="-122"/>
                <a:cs typeface="Arial" pitchFamily="34" charset="-120"/>
              </a:rPr>
              <a:t>Every guarantee that was free in the other categories, you now write by hand. The moment topology stopped being knowable in advance, everything that depended on knowing it had to be rebuilt.</a:t>
            </a:r>
            <a:endParaRPr lang="en-US" sz="1450" dirty="0"/>
          </a:p>
        </p:txBody>
      </p:sp>
      <p:sp>
        <p:nvSpPr>
          <p:cNvPr id="55" name="Text 53"/>
          <p:cNvSpPr/>
          <p:nvPr/>
        </p:nvSpPr>
        <p:spPr>
          <a:xfrm>
            <a:off x="7360920" y="4297680"/>
            <a:ext cx="3822192" cy="822960"/>
          </a:xfrm>
          <a:prstGeom prst="rect">
            <a:avLst/>
          </a:prstGeom>
          <a:noFill/>
          <a:ln/>
        </p:spPr>
        <p:txBody>
          <a:bodyPr wrap="square" lIns="0" tIns="0" rIns="0" bIns="0" rtlCol="0" anchor="t"/>
          <a:lstStyle/>
          <a:p>
            <a:pPr indent="0" marL="0">
              <a:lnSpc>
                <a:spcPct val="112000"/>
              </a:lnSpc>
              <a:buNone/>
            </a:pPr>
            <a:r>
              <a:rPr lang="en-US" sz="1450" i="1" dirty="0">
                <a:solidFill>
                  <a:srgbClr val="F4F6F8"/>
                </a:solidFill>
                <a:latin typeface="Arial" pitchFamily="34" charset="0"/>
                <a:ea typeface="Arial" pitchFamily="34" charset="-122"/>
                <a:cs typeface="Arial" pitchFamily="34" charset="-120"/>
              </a:rPr>
              <a:t>The model calls are the easy part. The plumbing you stop getting for free is the price of admission.</a:t>
            </a:r>
            <a:endParaRPr lang="en-US" sz="1450" dirty="0"/>
          </a:p>
        </p:txBody>
      </p:sp>
      <p:sp>
        <p:nvSpPr>
          <p:cNvPr id="56" name="Text 54"/>
          <p:cNvSpPr/>
          <p:nvPr/>
        </p:nvSpPr>
        <p:spPr>
          <a:xfrm>
            <a:off x="640080" y="5486400"/>
            <a:ext cx="10881360" cy="502920"/>
          </a:xfrm>
          <a:prstGeom prst="rect">
            <a:avLst/>
          </a:prstGeom>
          <a:noFill/>
          <a:ln/>
        </p:spPr>
        <p:txBody>
          <a:bodyPr wrap="square" lIns="0" tIns="0" rIns="0" bIns="0" rtlCol="0" anchor="ctr"/>
          <a:lstStyle/>
          <a:p>
            <a:pPr indent="0" marL="0">
              <a:buNone/>
            </a:pPr>
            <a:r>
              <a:rPr lang="en-US" sz="1500" b="1" dirty="0">
                <a:solidFill>
                  <a:srgbClr val="F4F6F8"/>
                </a:solidFill>
                <a:latin typeface="Arial" pitchFamily="34" charset="0"/>
                <a:ea typeface="Arial" pitchFamily="34" charset="-122"/>
                <a:cs typeface="Arial" pitchFamily="34" charset="-120"/>
              </a:rPr>
              <a:t>LCEL composes handlers — it is not a scheduler. </a:t>
            </a:r>
            <a:pPr indent="0" marL="0">
              <a:buNone/>
            </a:pPr>
            <a:r>
              <a:rPr lang="en-US" sz="1500" dirty="0">
                <a:solidFill>
                  <a:srgbClr val="9AA3B2"/>
                </a:solidFill>
                <a:latin typeface="Arial" pitchFamily="34" charset="0"/>
                <a:ea typeface="Arial" pitchFamily="34" charset="-122"/>
                <a:cs typeface="Arial" pitchFamily="34" charset="-120"/>
              </a:rPr>
              <a:t>You still need a separate runtime to sequence, checkpoint and recover them.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08 — THE REAL DISTINCTION</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9 / 11</a:t>
            </a:r>
            <a:endParaRPr lang="en-US" sz="1000" dirty="0"/>
          </a:p>
        </p:txBody>
      </p:sp>
      <p:sp>
        <p:nvSpPr>
          <p:cNvPr id="23" name="Text 21"/>
          <p:cNvSpPr/>
          <p:nvPr/>
        </p:nvSpPr>
        <p:spPr>
          <a:xfrm>
            <a:off x="640080" y="804672"/>
            <a:ext cx="10789920" cy="1143000"/>
          </a:xfrm>
          <a:prstGeom prst="rect">
            <a:avLst/>
          </a:prstGeom>
          <a:noFill/>
          <a:ln/>
        </p:spPr>
        <p:txBody>
          <a:bodyPr wrap="square" lIns="0" tIns="0" rIns="0" bIns="0" rtlCol="0" anchor="ctr"/>
          <a:lstStyle/>
          <a:p>
            <a:pPr indent="0" marL="0">
              <a:lnSpc>
                <a:spcPct val="102000"/>
              </a:lnSpc>
              <a:buNone/>
            </a:pPr>
            <a:r>
              <a:rPr lang="en-US" sz="3000" b="1" dirty="0">
                <a:solidFill>
                  <a:srgbClr val="F4F6F8"/>
                </a:solidFill>
                <a:latin typeface="Arial" pitchFamily="34" charset="0"/>
                <a:ea typeface="Arial" pitchFamily="34" charset="-122"/>
                <a:cs typeface="Arial" pitchFamily="34" charset="-120"/>
              </a:rPr>
              <a:t>Two questions sort the entire field —</a:t>
            </a:r>
            <a:endParaRPr lang="en-US" sz="3000" dirty="0"/>
          </a:p>
          <a:p>
            <a:pPr indent="0" marL="0">
              <a:lnSpc>
                <a:spcPct val="102000"/>
              </a:lnSpc>
              <a:buNone/>
            </a:pPr>
            <a:r>
              <a:rPr lang="en-US" sz="3000" b="1" dirty="0">
                <a:solidFill>
                  <a:srgbClr val="F4F6F8"/>
                </a:solidFill>
                <a:latin typeface="Arial" pitchFamily="34" charset="0"/>
                <a:ea typeface="Arial" pitchFamily="34" charset="-122"/>
                <a:cs typeface="Arial" pitchFamily="34" charset="-120"/>
              </a:rPr>
              <a:t>and neither is on any comparison table.</a:t>
            </a:r>
            <a:endParaRPr lang="en-US" sz="3000" dirty="0"/>
          </a:p>
        </p:txBody>
      </p:sp>
      <p:sp>
        <p:nvSpPr>
          <p:cNvPr id="24" name="Shape 22"/>
          <p:cNvSpPr/>
          <p:nvPr/>
        </p:nvSpPr>
        <p:spPr>
          <a:xfrm>
            <a:off x="640080" y="2286000"/>
            <a:ext cx="5271516" cy="3063240"/>
          </a:xfrm>
          <a:prstGeom prst="roundRect">
            <a:avLst>
              <a:gd name="adj" fmla="val 3284"/>
            </a:avLst>
          </a:prstGeom>
          <a:solidFill>
            <a:srgbClr val="141824"/>
          </a:solidFill>
          <a:ln w="12700">
            <a:solidFill>
              <a:srgbClr val="272E3E"/>
            </a:solidFill>
            <a:prstDash val="solid"/>
          </a:ln>
        </p:spPr>
      </p:sp>
      <p:sp>
        <p:nvSpPr>
          <p:cNvPr id="25" name="Text 23"/>
          <p:cNvSpPr/>
          <p:nvPr/>
        </p:nvSpPr>
        <p:spPr>
          <a:xfrm>
            <a:off x="1005840" y="2578608"/>
            <a:ext cx="914400" cy="365760"/>
          </a:xfrm>
          <a:prstGeom prst="rect">
            <a:avLst/>
          </a:prstGeom>
          <a:noFill/>
          <a:ln/>
        </p:spPr>
        <p:txBody>
          <a:bodyPr wrap="square" lIns="0" tIns="0" rIns="0" bIns="0" rtlCol="0" anchor="ctr"/>
          <a:lstStyle/>
          <a:p>
            <a:pPr indent="0" marL="0">
              <a:buNone/>
            </a:pPr>
            <a:r>
              <a:rPr lang="en-US" sz="1400" b="1" dirty="0">
                <a:solidFill>
                  <a:srgbClr val="4ADE80"/>
                </a:solidFill>
                <a:latin typeface="Courier New" pitchFamily="34" charset="0"/>
                <a:ea typeface="Courier New" pitchFamily="34" charset="-122"/>
                <a:cs typeface="Courier New" pitchFamily="34" charset="-120"/>
              </a:rPr>
              <a:t>Q1</a:t>
            </a:r>
            <a:endParaRPr lang="en-US" sz="1400" dirty="0"/>
          </a:p>
        </p:txBody>
      </p:sp>
      <p:sp>
        <p:nvSpPr>
          <p:cNvPr id="26" name="Text 24"/>
          <p:cNvSpPr/>
          <p:nvPr/>
        </p:nvSpPr>
        <p:spPr>
          <a:xfrm>
            <a:off x="1005840" y="2907792"/>
            <a:ext cx="4539996" cy="457200"/>
          </a:xfrm>
          <a:prstGeom prst="rect">
            <a:avLst/>
          </a:prstGeom>
          <a:noFill/>
          <a:ln/>
        </p:spPr>
        <p:txBody>
          <a:bodyPr wrap="square" lIns="0" tIns="0" rIns="0" bIns="0" rtlCol="0" anchor="ctr"/>
          <a:lstStyle/>
          <a:p>
            <a:pPr indent="0" marL="0">
              <a:buNone/>
            </a:pPr>
            <a:r>
              <a:rPr lang="en-US" sz="2300" b="1" dirty="0">
                <a:solidFill>
                  <a:srgbClr val="F4F6F8"/>
                </a:solidFill>
                <a:latin typeface="Arial" pitchFamily="34" charset="0"/>
                <a:ea typeface="Arial" pitchFamily="34" charset="-122"/>
                <a:cs typeface="Arial" pitchFamily="34" charset="-120"/>
              </a:rPr>
              <a:t>Who writes the graph?</a:t>
            </a:r>
            <a:endParaRPr lang="en-US" sz="2300" dirty="0"/>
          </a:p>
        </p:txBody>
      </p:sp>
      <p:sp>
        <p:nvSpPr>
          <p:cNvPr id="27" name="Text 25"/>
          <p:cNvSpPr/>
          <p:nvPr/>
        </p:nvSpPr>
        <p:spPr>
          <a:xfrm>
            <a:off x="1005840" y="3520440"/>
            <a:ext cx="4539996" cy="1143000"/>
          </a:xfrm>
          <a:prstGeom prst="rect">
            <a:avLst/>
          </a:prstGeom>
          <a:noFill/>
          <a:ln/>
        </p:spPr>
        <p:txBody>
          <a:bodyPr wrap="square" lIns="0" tIns="0" rIns="0" bIns="0" rtlCol="0" anchor="t"/>
          <a:lstStyle/>
          <a:p>
            <a:pPr indent="0" marL="0">
              <a:lnSpc>
                <a:spcPct val="115000"/>
              </a:lnSpc>
              <a:buNone/>
            </a:pPr>
            <a:r>
              <a:rPr lang="en-US" sz="1400" b="1" dirty="0">
                <a:solidFill>
                  <a:srgbClr val="9AA3B2"/>
                </a:solidFill>
                <a:latin typeface="Courier New" pitchFamily="34" charset="0"/>
                <a:ea typeface="Courier New" pitchFamily="34" charset="-122"/>
                <a:cs typeface="Courier New" pitchFamily="34" charset="-120"/>
              </a:rPr>
              <a:t>DECLARED</a:t>
            </a:r>
            <a:pPr indent="0" marL="0">
              <a:lnSpc>
                <a:spcPct val="115000"/>
              </a:lnSpc>
              <a:buNone/>
            </a:pPr>
            <a:r>
              <a:rPr lang="en-US" sz="1400" dirty="0">
                <a:solidFill>
                  <a:srgbClr val="9AA3B2"/>
                </a:solidFill>
                <a:latin typeface="Arial" pitchFamily="34" charset="0"/>
                <a:ea typeface="Arial" pitchFamily="34" charset="-122"/>
                <a:cs typeface="Arial" pitchFamily="34" charset="-120"/>
              </a:rPr>
              <a:t>  — fixed before the run. Camunda, Airflow, Kestra all sit here.
</a:t>
            </a:r>
            <a:pPr indent="0" marL="0">
              <a:lnSpc>
                <a:spcPct val="115000"/>
              </a:lnSpc>
              <a:buNone/>
            </a:pPr>
            <a:r>
              <a:rPr lang="en-US" sz="1400" b="1" dirty="0">
                <a:solidFill>
                  <a:srgbClr val="4ADE80"/>
                </a:solidFill>
                <a:latin typeface="Courier New" pitchFamily="34" charset="0"/>
                <a:ea typeface="Courier New" pitchFamily="34" charset="-122"/>
                <a:cs typeface="Courier New" pitchFamily="34" charset="-120"/>
              </a:rPr>
              <a:t>GENERATED</a:t>
            </a:r>
            <a:pPr indent="0" marL="0">
              <a:lnSpc>
                <a:spcPct val="115000"/>
              </a:lnSpc>
              <a:buNone/>
            </a:pPr>
            <a:r>
              <a:rPr lang="en-US" sz="1400" dirty="0">
                <a:solidFill>
                  <a:srgbClr val="9AA3B2"/>
                </a:solidFill>
                <a:latin typeface="Arial" pitchFamily="34" charset="0"/>
                <a:ea typeface="Arial" pitchFamily="34" charset="-122"/>
                <a:cs typeface="Arial" pitchFamily="34" charset="-120"/>
              </a:rPr>
              <a:t>  — a planner emits a fresh graph mid-run. The moment it does, you have become the planner.</a:t>
            </a:r>
            <a:endParaRPr lang="en-US" sz="1400" dirty="0"/>
          </a:p>
        </p:txBody>
      </p:sp>
      <p:sp>
        <p:nvSpPr>
          <p:cNvPr id="28" name="Text 26"/>
          <p:cNvSpPr/>
          <p:nvPr/>
        </p:nvSpPr>
        <p:spPr>
          <a:xfrm>
            <a:off x="1005840" y="4709160"/>
            <a:ext cx="4539996" cy="548640"/>
          </a:xfrm>
          <a:prstGeom prst="rect">
            <a:avLst/>
          </a:prstGeom>
          <a:noFill/>
          <a:ln/>
        </p:spPr>
        <p:txBody>
          <a:bodyPr wrap="square" lIns="0" tIns="0" rIns="0" bIns="0" rtlCol="0" anchor="t"/>
          <a:lstStyle/>
          <a:p>
            <a:pPr indent="0" marL="0">
              <a:lnSpc>
                <a:spcPct val="110000"/>
              </a:lnSpc>
              <a:buNone/>
            </a:pPr>
            <a:r>
              <a:rPr lang="en-US" sz="1300" i="1" dirty="0">
                <a:solidFill>
                  <a:srgbClr val="6B7382"/>
                </a:solidFill>
                <a:latin typeface="Arial" pitchFamily="34" charset="0"/>
                <a:ea typeface="Arial" pitchFamily="34" charset="-122"/>
                <a:cs typeface="Arial" pitchFamily="34" charset="-120"/>
              </a:rPr>
              <a:t>A fully-LLM YAML flow is declared. An AI-free solver emitting graphs is generated. It was never AI-vs-not-AI — it's who holds the pen.</a:t>
            </a:r>
            <a:endParaRPr lang="en-US" sz="1300" dirty="0"/>
          </a:p>
        </p:txBody>
      </p:sp>
      <p:sp>
        <p:nvSpPr>
          <p:cNvPr id="29" name="Shape 27"/>
          <p:cNvSpPr/>
          <p:nvPr/>
        </p:nvSpPr>
        <p:spPr>
          <a:xfrm>
            <a:off x="6277356" y="2286000"/>
            <a:ext cx="5271516" cy="3063240"/>
          </a:xfrm>
          <a:prstGeom prst="roundRect">
            <a:avLst>
              <a:gd name="adj" fmla="val 3284"/>
            </a:avLst>
          </a:prstGeom>
          <a:solidFill>
            <a:srgbClr val="141824"/>
          </a:solidFill>
          <a:ln w="12700">
            <a:solidFill>
              <a:srgbClr val="272E3E"/>
            </a:solidFill>
            <a:prstDash val="solid"/>
          </a:ln>
        </p:spPr>
      </p:sp>
      <p:sp>
        <p:nvSpPr>
          <p:cNvPr id="30" name="Text 28"/>
          <p:cNvSpPr/>
          <p:nvPr/>
        </p:nvSpPr>
        <p:spPr>
          <a:xfrm>
            <a:off x="6643116" y="2578608"/>
            <a:ext cx="914400" cy="365760"/>
          </a:xfrm>
          <a:prstGeom prst="rect">
            <a:avLst/>
          </a:prstGeom>
          <a:noFill/>
          <a:ln/>
        </p:spPr>
        <p:txBody>
          <a:bodyPr wrap="square" lIns="0" tIns="0" rIns="0" bIns="0" rtlCol="0" anchor="ctr"/>
          <a:lstStyle/>
          <a:p>
            <a:pPr indent="0" marL="0">
              <a:buNone/>
            </a:pPr>
            <a:r>
              <a:rPr lang="en-US" sz="1400" b="1" dirty="0">
                <a:solidFill>
                  <a:srgbClr val="2DD4BF"/>
                </a:solidFill>
                <a:latin typeface="Courier New" pitchFamily="34" charset="0"/>
                <a:ea typeface="Courier New" pitchFamily="34" charset="-122"/>
                <a:cs typeface="Courier New" pitchFamily="34" charset="-120"/>
              </a:rPr>
              <a:t>Q2</a:t>
            </a:r>
            <a:endParaRPr lang="en-US" sz="1400" dirty="0"/>
          </a:p>
        </p:txBody>
      </p:sp>
      <p:sp>
        <p:nvSpPr>
          <p:cNvPr id="31" name="Text 29"/>
          <p:cNvSpPr/>
          <p:nvPr/>
        </p:nvSpPr>
        <p:spPr>
          <a:xfrm>
            <a:off x="6643116" y="2907792"/>
            <a:ext cx="4539996" cy="457200"/>
          </a:xfrm>
          <a:prstGeom prst="rect">
            <a:avLst/>
          </a:prstGeom>
          <a:noFill/>
          <a:ln/>
        </p:spPr>
        <p:txBody>
          <a:bodyPr wrap="square" lIns="0" tIns="0" rIns="0" bIns="0" rtlCol="0" anchor="ctr"/>
          <a:lstStyle/>
          <a:p>
            <a:pPr indent="0" marL="0">
              <a:buNone/>
            </a:pPr>
            <a:r>
              <a:rPr lang="en-US" sz="2300" b="1" dirty="0">
                <a:solidFill>
                  <a:srgbClr val="F4F6F8"/>
                </a:solidFill>
                <a:latin typeface="Arial" pitchFamily="34" charset="0"/>
                <a:ea typeface="Arial" pitchFamily="34" charset="-122"/>
                <a:cs typeface="Arial" pitchFamily="34" charset="-120"/>
              </a:rPr>
              <a:t>When does work start?</a:t>
            </a:r>
            <a:endParaRPr lang="en-US" sz="2300" dirty="0"/>
          </a:p>
        </p:txBody>
      </p:sp>
      <p:sp>
        <p:nvSpPr>
          <p:cNvPr id="32" name="Text 30"/>
          <p:cNvSpPr/>
          <p:nvPr/>
        </p:nvSpPr>
        <p:spPr>
          <a:xfrm>
            <a:off x="6643116" y="3520440"/>
            <a:ext cx="4539996" cy="1143000"/>
          </a:xfrm>
          <a:prstGeom prst="rect">
            <a:avLst/>
          </a:prstGeom>
          <a:noFill/>
          <a:ln/>
        </p:spPr>
        <p:txBody>
          <a:bodyPr wrap="square" lIns="0" tIns="0" rIns="0" bIns="0" rtlCol="0" anchor="t"/>
          <a:lstStyle/>
          <a:p>
            <a:pPr indent="0" marL="0">
              <a:lnSpc>
                <a:spcPct val="115000"/>
              </a:lnSpc>
              <a:buNone/>
            </a:pPr>
            <a:r>
              <a:rPr lang="en-US" sz="1400" b="1" dirty="0">
                <a:solidFill>
                  <a:srgbClr val="2DD4BF"/>
                </a:solidFill>
                <a:latin typeface="Courier New" pitchFamily="34" charset="0"/>
                <a:ea typeface="Courier New" pitchFamily="34" charset="-122"/>
                <a:cs typeface="Courier New" pitchFamily="34" charset="-120"/>
              </a:rPr>
              <a:t>EVENT-DRIVEN</a:t>
            </a:r>
            <a:pPr indent="0" marL="0">
              <a:lnSpc>
                <a:spcPct val="115000"/>
              </a:lnSpc>
              <a:buNone/>
            </a:pPr>
            <a:r>
              <a:rPr lang="en-US" sz="1400" dirty="0">
                <a:solidFill>
                  <a:srgbClr val="9AA3B2"/>
                </a:solidFill>
                <a:latin typeface="Arial" pitchFamily="34" charset="0"/>
                <a:ea typeface="Arial" pitchFamily="34" charset="-122"/>
                <a:cs typeface="Arial" pitchFamily="34" charset="-120"/>
              </a:rPr>
              <a:t>  — because something happened.
</a:t>
            </a:r>
            <a:pPr indent="0" marL="0">
              <a:lnSpc>
                <a:spcPct val="115000"/>
              </a:lnSpc>
              <a:buNone/>
            </a:pPr>
            <a:r>
              <a:rPr lang="en-US" sz="1400" b="1" dirty="0">
                <a:solidFill>
                  <a:srgbClr val="F5A623"/>
                </a:solidFill>
                <a:latin typeface="Courier New" pitchFamily="34" charset="0"/>
                <a:ea typeface="Courier New" pitchFamily="34" charset="-122"/>
                <a:cs typeface="Courier New" pitchFamily="34" charset="-120"/>
              </a:rPr>
              <a:t>POLL-BASED</a:t>
            </a:r>
            <a:pPr indent="0" marL="0">
              <a:lnSpc>
                <a:spcPct val="115000"/>
              </a:lnSpc>
              <a:buNone/>
            </a:pPr>
            <a:r>
              <a:rPr lang="en-US" sz="1400" dirty="0">
                <a:solidFill>
                  <a:srgbClr val="9AA3B2"/>
                </a:solidFill>
                <a:latin typeface="Arial" pitchFamily="34" charset="0"/>
                <a:ea typeface="Arial" pitchFamily="34" charset="-122"/>
                <a:cs typeface="Arial" pitchFamily="34" charset="-120"/>
              </a:rPr>
              <a:t>  — because a clock ticked. An orchestrator is, at bottom, an opinion about when work starts.</a:t>
            </a:r>
            <a:endParaRPr lang="en-US" sz="1400" dirty="0"/>
          </a:p>
        </p:txBody>
      </p:sp>
      <p:sp>
        <p:nvSpPr>
          <p:cNvPr id="33" name="Text 31"/>
          <p:cNvSpPr/>
          <p:nvPr/>
        </p:nvSpPr>
        <p:spPr>
          <a:xfrm>
            <a:off x="6643116" y="4709160"/>
            <a:ext cx="4539996" cy="548640"/>
          </a:xfrm>
          <a:prstGeom prst="rect">
            <a:avLst/>
          </a:prstGeom>
          <a:noFill/>
          <a:ln/>
        </p:spPr>
        <p:txBody>
          <a:bodyPr wrap="square" lIns="0" tIns="0" rIns="0" bIns="0" rtlCol="0" anchor="t"/>
          <a:lstStyle/>
          <a:p>
            <a:pPr indent="0" marL="0">
              <a:lnSpc>
                <a:spcPct val="110000"/>
              </a:lnSpc>
              <a:buNone/>
            </a:pPr>
            <a:r>
              <a:rPr lang="en-US" sz="1300" i="1" dirty="0">
                <a:solidFill>
                  <a:srgbClr val="6B7382"/>
                </a:solidFill>
                <a:latin typeface="Arial" pitchFamily="34" charset="0"/>
                <a:ea typeface="Arial" pitchFamily="34" charset="-122"/>
                <a:cs typeface="Arial" pitchFamily="34" charset="-120"/>
              </a:rPr>
              <a:t>Put a scheduled engine on a reactive system and you write sensors for events that already fired. The backbone has to match the system it lands in.</a:t>
            </a:r>
            <a:endParaRPr lang="en-US" sz="1300" dirty="0"/>
          </a:p>
        </p:txBody>
      </p:sp>
      <p:sp>
        <p:nvSpPr>
          <p:cNvPr id="34" name="Text 32"/>
          <p:cNvSpPr/>
          <p:nvPr/>
        </p:nvSpPr>
        <p:spPr>
          <a:xfrm>
            <a:off x="640080" y="5532120"/>
            <a:ext cx="10881360" cy="502920"/>
          </a:xfrm>
          <a:prstGeom prst="rect">
            <a:avLst/>
          </a:prstGeom>
          <a:noFill/>
          <a:ln/>
        </p:spPr>
        <p:txBody>
          <a:bodyPr wrap="square" lIns="0" tIns="0" rIns="0" bIns="0" rtlCol="0" anchor="ctr"/>
          <a:lstStyle/>
          <a:p>
            <a:pPr indent="0" marL="0">
              <a:buNone/>
            </a:pPr>
            <a:r>
              <a:rPr lang="en-US" sz="1550" b="1" dirty="0">
                <a:solidFill>
                  <a:srgbClr val="F4F6F8"/>
                </a:solidFill>
                <a:latin typeface="Arial" pitchFamily="34" charset="0"/>
                <a:ea typeface="Arial" pitchFamily="34" charset="-122"/>
                <a:cs typeface="Arial" pitchFamily="34" charset="-120"/>
              </a:rPr>
              <a:t>Half the orchestrator arguments are two people describing different backbones — while thinking they argue about tools.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09 — THE TRAP</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10 / 11</a:t>
            </a:r>
            <a:endParaRPr lang="en-US" sz="1000" dirty="0"/>
          </a:p>
        </p:txBody>
      </p:sp>
      <p:sp>
        <p:nvSpPr>
          <p:cNvPr id="23" name="Text 21"/>
          <p:cNvSpPr/>
          <p:nvPr/>
        </p:nvSpPr>
        <p:spPr>
          <a:xfrm>
            <a:off x="640080" y="822960"/>
            <a:ext cx="10789920" cy="640080"/>
          </a:xfrm>
          <a:prstGeom prst="rect">
            <a:avLst/>
          </a:prstGeom>
          <a:noFill/>
          <a:ln/>
        </p:spPr>
        <p:txBody>
          <a:bodyPr wrap="square" lIns="0" tIns="0" rIns="0" bIns="0" rtlCol="0" anchor="ctr"/>
          <a:lstStyle/>
          <a:p>
            <a:pPr indent="0" marL="0">
              <a:buNone/>
            </a:pPr>
            <a:r>
              <a:rPr lang="en-US" sz="3400" b="1" dirty="0">
                <a:solidFill>
                  <a:srgbClr val="F4F6F8"/>
                </a:solidFill>
                <a:latin typeface="Arial" pitchFamily="34" charset="0"/>
                <a:ea typeface="Arial" pitchFamily="34" charset="-122"/>
                <a:cs typeface="Arial" pitchFamily="34" charset="-120"/>
              </a:rPr>
              <a:t>“We'll just build it.”</a:t>
            </a:r>
            <a:endParaRPr lang="en-US" sz="3400" dirty="0"/>
          </a:p>
        </p:txBody>
      </p:sp>
      <p:sp>
        <p:nvSpPr>
          <p:cNvPr id="24" name="Text 22"/>
          <p:cNvSpPr/>
          <p:nvPr/>
        </p:nvSpPr>
        <p:spPr>
          <a:xfrm>
            <a:off x="640080" y="1481328"/>
            <a:ext cx="10789920" cy="365760"/>
          </a:xfrm>
          <a:prstGeom prst="rect">
            <a:avLst/>
          </a:prstGeom>
          <a:noFill/>
          <a:ln/>
        </p:spPr>
        <p:txBody>
          <a:bodyPr wrap="square" lIns="0" tIns="0" rIns="0" bIns="0" rtlCol="0" anchor="ctr"/>
          <a:lstStyle/>
          <a:p>
            <a:pPr indent="0" marL="0">
              <a:buNone/>
            </a:pPr>
            <a:r>
              <a:rPr lang="en-US" sz="1500" dirty="0">
                <a:solidFill>
                  <a:srgbClr val="6B7382"/>
                </a:solidFill>
                <a:latin typeface="Arial" pitchFamily="34" charset="0"/>
                <a:ea typeface="Arial" pitchFamily="34" charset="-122"/>
                <a:cs typeface="Arial" pitchFamily="34" charset="-120"/>
              </a:rPr>
              <a:t>The estimate is usually right. It only ever prices the writing — never the owning.</a:t>
            </a:r>
            <a:endParaRPr lang="en-US" sz="1500" dirty="0"/>
          </a:p>
        </p:txBody>
      </p:sp>
      <p:sp>
        <p:nvSpPr>
          <p:cNvPr id="25" name="Shape 23"/>
          <p:cNvSpPr/>
          <p:nvPr/>
        </p:nvSpPr>
        <p:spPr>
          <a:xfrm>
            <a:off x="640080" y="2103120"/>
            <a:ext cx="6126480" cy="3310128"/>
          </a:xfrm>
          <a:prstGeom prst="roundRect">
            <a:avLst>
              <a:gd name="adj" fmla="val 3039"/>
            </a:avLst>
          </a:prstGeom>
          <a:solidFill>
            <a:srgbClr val="10131C"/>
          </a:solidFill>
          <a:ln w="12700">
            <a:solidFill>
              <a:srgbClr val="272E3E"/>
            </a:solidFill>
            <a:prstDash val="solid"/>
          </a:ln>
        </p:spPr>
      </p:sp>
      <p:sp>
        <p:nvSpPr>
          <p:cNvPr id="26" name="Text 24"/>
          <p:cNvSpPr/>
          <p:nvPr/>
        </p:nvSpPr>
        <p:spPr>
          <a:xfrm>
            <a:off x="1051560" y="2377440"/>
            <a:ext cx="5303520" cy="274320"/>
          </a:xfrm>
          <a:prstGeom prst="rect">
            <a:avLst/>
          </a:prstGeom>
          <a:noFill/>
          <a:ln/>
        </p:spPr>
        <p:txBody>
          <a:bodyPr wrap="square" lIns="0" tIns="0" rIns="0" bIns="0" rtlCol="0" anchor="ctr"/>
          <a:lstStyle/>
          <a:p>
            <a:pPr indent="0" marL="0">
              <a:buNone/>
            </a:pPr>
            <a:r>
              <a:rPr lang="en-US" sz="1150" b="1" spc="150" kern="0" dirty="0">
                <a:solidFill>
                  <a:srgbClr val="6B7382"/>
                </a:solidFill>
                <a:latin typeface="Courier New" pitchFamily="34" charset="0"/>
                <a:ea typeface="Courier New" pitchFamily="34" charset="-122"/>
                <a:cs typeface="Courier New" pitchFamily="34" charset="-120"/>
              </a:rPr>
              <a:t>WHAT YOU PRICE IN</a:t>
            </a:r>
            <a:endParaRPr lang="en-US" sz="1150" dirty="0"/>
          </a:p>
        </p:txBody>
      </p:sp>
      <p:sp>
        <p:nvSpPr>
          <p:cNvPr id="27" name="Text 25"/>
          <p:cNvSpPr/>
          <p:nvPr/>
        </p:nvSpPr>
        <p:spPr>
          <a:xfrm>
            <a:off x="1051560" y="2706624"/>
            <a:ext cx="1554480" cy="320040"/>
          </a:xfrm>
          <a:prstGeom prst="rect">
            <a:avLst/>
          </a:prstGeom>
          <a:noFill/>
          <a:ln/>
        </p:spPr>
        <p:txBody>
          <a:bodyPr wrap="square" lIns="0" tIns="0" rIns="0" bIns="0" rtlCol="0" anchor="ctr"/>
          <a:lstStyle/>
          <a:p>
            <a:pPr indent="0" marL="0">
              <a:buNone/>
            </a:pPr>
            <a:r>
              <a:rPr lang="en-US" sz="1400" dirty="0">
                <a:solidFill>
                  <a:srgbClr val="9AA3B2"/>
                </a:solidFill>
                <a:latin typeface="Courier New" pitchFamily="34" charset="0"/>
                <a:ea typeface="Courier New" pitchFamily="34" charset="-122"/>
                <a:cs typeface="Courier New" pitchFamily="34" charset="-120"/>
              </a:rPr>
              <a:t>build</a:t>
            </a:r>
            <a:endParaRPr lang="en-US" sz="1400" dirty="0"/>
          </a:p>
        </p:txBody>
      </p:sp>
      <p:sp>
        <p:nvSpPr>
          <p:cNvPr id="28" name="Shape 26"/>
          <p:cNvSpPr/>
          <p:nvPr/>
        </p:nvSpPr>
        <p:spPr>
          <a:xfrm>
            <a:off x="2788920" y="2724912"/>
            <a:ext cx="777240" cy="274320"/>
          </a:xfrm>
          <a:prstGeom prst="roundRect">
            <a:avLst>
              <a:gd name="adj" fmla="val 13333"/>
            </a:avLst>
          </a:prstGeom>
          <a:solidFill>
            <a:srgbClr val="4ADE80"/>
          </a:solidFill>
          <a:ln/>
        </p:spPr>
      </p:sp>
      <p:sp>
        <p:nvSpPr>
          <p:cNvPr id="29" name="Text 27"/>
          <p:cNvSpPr/>
          <p:nvPr/>
        </p:nvSpPr>
        <p:spPr>
          <a:xfrm>
            <a:off x="3703320" y="2706624"/>
            <a:ext cx="2560320" cy="320040"/>
          </a:xfrm>
          <a:prstGeom prst="rect">
            <a:avLst/>
          </a:prstGeom>
          <a:noFill/>
          <a:ln/>
        </p:spPr>
        <p:txBody>
          <a:bodyPr wrap="square" lIns="0" tIns="0" rIns="0" bIns="0" rtlCol="0" anchor="ctr"/>
          <a:lstStyle/>
          <a:p>
            <a:pPr indent="0" marL="0">
              <a:buNone/>
            </a:pPr>
            <a:r>
              <a:rPr lang="en-US" sz="1200" i="1" dirty="0">
                <a:solidFill>
                  <a:srgbClr val="6B7382"/>
                </a:solidFill>
                <a:latin typeface="Arial" pitchFamily="34" charset="0"/>
                <a:ea typeface="Arial" pitchFamily="34" charset="-122"/>
                <a:cs typeface="Arial" pitchFamily="34" charset="-120"/>
              </a:rPr>
              <a:t>a weekend, now that AI writes it</a:t>
            </a:r>
            <a:endParaRPr lang="en-US" sz="1200" dirty="0"/>
          </a:p>
        </p:txBody>
      </p:sp>
      <p:sp>
        <p:nvSpPr>
          <p:cNvPr id="30" name="Shape 28"/>
          <p:cNvSpPr/>
          <p:nvPr/>
        </p:nvSpPr>
        <p:spPr>
          <a:xfrm>
            <a:off x="1051560" y="3200400"/>
            <a:ext cx="5303520" cy="0"/>
          </a:xfrm>
          <a:prstGeom prst="line">
            <a:avLst/>
          </a:prstGeom>
          <a:noFill/>
          <a:ln w="9525">
            <a:solidFill>
              <a:srgbClr val="222A3A"/>
            </a:solidFill>
            <a:prstDash val="solid"/>
          </a:ln>
        </p:spPr>
      </p:sp>
      <p:sp>
        <p:nvSpPr>
          <p:cNvPr id="31" name="Text 29"/>
          <p:cNvSpPr/>
          <p:nvPr/>
        </p:nvSpPr>
        <p:spPr>
          <a:xfrm>
            <a:off x="1051560" y="3328416"/>
            <a:ext cx="5303520" cy="274320"/>
          </a:xfrm>
          <a:prstGeom prst="rect">
            <a:avLst/>
          </a:prstGeom>
          <a:noFill/>
          <a:ln/>
        </p:spPr>
        <p:txBody>
          <a:bodyPr wrap="square" lIns="0" tIns="0" rIns="0" bIns="0" rtlCol="0" anchor="ctr"/>
          <a:lstStyle/>
          <a:p>
            <a:pPr indent="0" marL="0">
              <a:buNone/>
            </a:pPr>
            <a:r>
              <a:rPr lang="en-US" sz="1150" b="1" spc="150" kern="0" dirty="0">
                <a:solidFill>
                  <a:srgbClr val="F5A623"/>
                </a:solidFill>
                <a:latin typeface="Courier New" pitchFamily="34" charset="0"/>
                <a:ea typeface="Courier New" pitchFamily="34" charset="-122"/>
                <a:cs typeface="Courier New" pitchFamily="34" charset="-120"/>
              </a:rPr>
              <a:t>WHAT YOU DON'T</a:t>
            </a:r>
            <a:endParaRPr lang="en-US" sz="1150" dirty="0"/>
          </a:p>
        </p:txBody>
      </p:sp>
      <p:sp>
        <p:nvSpPr>
          <p:cNvPr id="32" name="Text 30"/>
          <p:cNvSpPr/>
          <p:nvPr/>
        </p:nvSpPr>
        <p:spPr>
          <a:xfrm>
            <a:off x="1051560" y="3685032"/>
            <a:ext cx="1554480" cy="292608"/>
          </a:xfrm>
          <a:prstGeom prst="rect">
            <a:avLst/>
          </a:prstGeom>
          <a:noFill/>
          <a:ln/>
        </p:spPr>
        <p:txBody>
          <a:bodyPr wrap="square" lIns="0" tIns="0" rIns="0" bIns="0" rtlCol="0" anchor="ctr"/>
          <a:lstStyle/>
          <a:p>
            <a:pPr indent="0" marL="0">
              <a:buNone/>
            </a:pPr>
            <a:r>
              <a:rPr lang="en-US" sz="1300" dirty="0">
                <a:solidFill>
                  <a:srgbClr val="9AA3B2"/>
                </a:solidFill>
                <a:latin typeface="Courier New" pitchFamily="34" charset="0"/>
                <a:ea typeface="Courier New" pitchFamily="34" charset="-122"/>
                <a:cs typeface="Courier New" pitchFamily="34" charset="-120"/>
              </a:rPr>
              <a:t>maintain</a:t>
            </a:r>
            <a:endParaRPr lang="en-US" sz="1300" dirty="0"/>
          </a:p>
        </p:txBody>
      </p:sp>
      <p:sp>
        <p:nvSpPr>
          <p:cNvPr id="33" name="Shape 31"/>
          <p:cNvSpPr/>
          <p:nvPr/>
        </p:nvSpPr>
        <p:spPr>
          <a:xfrm>
            <a:off x="2788920" y="3712464"/>
            <a:ext cx="3405226" cy="237744"/>
          </a:xfrm>
          <a:prstGeom prst="roundRect">
            <a:avLst>
              <a:gd name="adj" fmla="val 15385"/>
            </a:avLst>
          </a:prstGeom>
          <a:solidFill>
            <a:srgbClr val="F5A623"/>
          </a:solidFill>
          <a:ln/>
        </p:spPr>
      </p:sp>
      <p:sp>
        <p:nvSpPr>
          <p:cNvPr id="34" name="Text 32"/>
          <p:cNvSpPr/>
          <p:nvPr/>
        </p:nvSpPr>
        <p:spPr>
          <a:xfrm>
            <a:off x="1051560" y="4005072"/>
            <a:ext cx="1554480" cy="292608"/>
          </a:xfrm>
          <a:prstGeom prst="rect">
            <a:avLst/>
          </a:prstGeom>
          <a:noFill/>
          <a:ln/>
        </p:spPr>
        <p:txBody>
          <a:bodyPr wrap="square" lIns="0" tIns="0" rIns="0" bIns="0" rtlCol="0" anchor="ctr"/>
          <a:lstStyle/>
          <a:p>
            <a:pPr indent="0" marL="0">
              <a:buNone/>
            </a:pPr>
            <a:r>
              <a:rPr lang="en-US" sz="1300" dirty="0">
                <a:solidFill>
                  <a:srgbClr val="9AA3B2"/>
                </a:solidFill>
                <a:latin typeface="Courier New" pitchFamily="34" charset="0"/>
                <a:ea typeface="Courier New" pitchFamily="34" charset="-122"/>
                <a:cs typeface="Courier New" pitchFamily="34" charset="-120"/>
              </a:rPr>
              <a:t>scale</a:t>
            </a:r>
            <a:endParaRPr lang="en-US" sz="1300" dirty="0"/>
          </a:p>
        </p:txBody>
      </p:sp>
      <p:sp>
        <p:nvSpPr>
          <p:cNvPr id="35" name="Shape 33"/>
          <p:cNvSpPr/>
          <p:nvPr/>
        </p:nvSpPr>
        <p:spPr>
          <a:xfrm>
            <a:off x="2788920" y="4032504"/>
            <a:ext cx="2432304" cy="237744"/>
          </a:xfrm>
          <a:prstGeom prst="roundRect">
            <a:avLst>
              <a:gd name="adj" fmla="val 15385"/>
            </a:avLst>
          </a:prstGeom>
          <a:solidFill>
            <a:srgbClr val="F5A623"/>
          </a:solidFill>
          <a:ln/>
        </p:spPr>
      </p:sp>
      <p:sp>
        <p:nvSpPr>
          <p:cNvPr id="36" name="Text 34"/>
          <p:cNvSpPr/>
          <p:nvPr/>
        </p:nvSpPr>
        <p:spPr>
          <a:xfrm>
            <a:off x="1051560" y="4325112"/>
            <a:ext cx="1554480" cy="292608"/>
          </a:xfrm>
          <a:prstGeom prst="rect">
            <a:avLst/>
          </a:prstGeom>
          <a:noFill/>
          <a:ln/>
        </p:spPr>
        <p:txBody>
          <a:bodyPr wrap="square" lIns="0" tIns="0" rIns="0" bIns="0" rtlCol="0" anchor="ctr"/>
          <a:lstStyle/>
          <a:p>
            <a:pPr indent="0" marL="0">
              <a:buNone/>
            </a:pPr>
            <a:r>
              <a:rPr lang="en-US" sz="1300" dirty="0">
                <a:solidFill>
                  <a:srgbClr val="9AA3B2"/>
                </a:solidFill>
                <a:latin typeface="Courier New" pitchFamily="34" charset="0"/>
                <a:ea typeface="Courier New" pitchFamily="34" charset="-122"/>
                <a:cs typeface="Courier New" pitchFamily="34" charset="-120"/>
              </a:rPr>
              <a:t>reliability</a:t>
            </a:r>
            <a:endParaRPr lang="en-US" sz="1300" dirty="0"/>
          </a:p>
        </p:txBody>
      </p:sp>
      <p:sp>
        <p:nvSpPr>
          <p:cNvPr id="37" name="Shape 35"/>
          <p:cNvSpPr/>
          <p:nvPr/>
        </p:nvSpPr>
        <p:spPr>
          <a:xfrm>
            <a:off x="2788920" y="4352544"/>
            <a:ext cx="3127248" cy="237744"/>
          </a:xfrm>
          <a:prstGeom prst="roundRect">
            <a:avLst>
              <a:gd name="adj" fmla="val 15385"/>
            </a:avLst>
          </a:prstGeom>
          <a:solidFill>
            <a:srgbClr val="F5A623"/>
          </a:solidFill>
          <a:ln/>
        </p:spPr>
      </p:sp>
      <p:sp>
        <p:nvSpPr>
          <p:cNvPr id="38" name="Text 36"/>
          <p:cNvSpPr/>
          <p:nvPr/>
        </p:nvSpPr>
        <p:spPr>
          <a:xfrm>
            <a:off x="1051560" y="4645152"/>
            <a:ext cx="1554480" cy="292608"/>
          </a:xfrm>
          <a:prstGeom prst="rect">
            <a:avLst/>
          </a:prstGeom>
          <a:noFill/>
          <a:ln/>
        </p:spPr>
        <p:txBody>
          <a:bodyPr wrap="square" lIns="0" tIns="0" rIns="0" bIns="0" rtlCol="0" anchor="ctr"/>
          <a:lstStyle/>
          <a:p>
            <a:pPr indent="0" marL="0">
              <a:buNone/>
            </a:pPr>
            <a:r>
              <a:rPr lang="en-US" sz="1300" dirty="0">
                <a:solidFill>
                  <a:srgbClr val="9AA3B2"/>
                </a:solidFill>
                <a:latin typeface="Courier New" pitchFamily="34" charset="0"/>
                <a:ea typeface="Courier New" pitchFamily="34" charset="-122"/>
                <a:cs typeface="Courier New" pitchFamily="34" charset="-120"/>
              </a:rPr>
              <a:t>on-call</a:t>
            </a:r>
            <a:endParaRPr lang="en-US" sz="1300" dirty="0"/>
          </a:p>
        </p:txBody>
      </p:sp>
      <p:sp>
        <p:nvSpPr>
          <p:cNvPr id="39" name="Shape 37"/>
          <p:cNvSpPr/>
          <p:nvPr/>
        </p:nvSpPr>
        <p:spPr>
          <a:xfrm>
            <a:off x="2788920" y="4672584"/>
            <a:ext cx="2084832" cy="237744"/>
          </a:xfrm>
          <a:prstGeom prst="roundRect">
            <a:avLst>
              <a:gd name="adj" fmla="val 15385"/>
            </a:avLst>
          </a:prstGeom>
          <a:solidFill>
            <a:srgbClr val="F5A623"/>
          </a:solidFill>
          <a:ln/>
        </p:spPr>
      </p:sp>
      <p:sp>
        <p:nvSpPr>
          <p:cNvPr id="40" name="Text 38"/>
          <p:cNvSpPr/>
          <p:nvPr/>
        </p:nvSpPr>
        <p:spPr>
          <a:xfrm>
            <a:off x="1051560" y="5065776"/>
            <a:ext cx="5303520" cy="274320"/>
          </a:xfrm>
          <a:prstGeom prst="rect">
            <a:avLst/>
          </a:prstGeom>
          <a:noFill/>
          <a:ln/>
        </p:spPr>
        <p:txBody>
          <a:bodyPr wrap="square" lIns="0" tIns="0" rIns="0" bIns="0" rtlCol="0" anchor="ctr"/>
          <a:lstStyle/>
          <a:p>
            <a:pPr indent="0" marL="0">
              <a:buNone/>
            </a:pPr>
            <a:r>
              <a:rPr lang="en-US" sz="1250" i="1" dirty="0">
                <a:solidFill>
                  <a:srgbClr val="6B7382"/>
                </a:solidFill>
                <a:latin typeface="Arial" pitchFamily="34" charset="0"/>
                <a:ea typeface="Arial" pitchFamily="34" charset="-122"/>
                <a:cs typeface="Arial" pitchFamily="34" charset="-120"/>
              </a:rPr>
              <a:t>…every quarter, for as long as it runs.</a:t>
            </a:r>
            <a:endParaRPr lang="en-US" sz="1250" dirty="0"/>
          </a:p>
        </p:txBody>
      </p:sp>
      <p:sp>
        <p:nvSpPr>
          <p:cNvPr id="41" name="Shape 39"/>
          <p:cNvSpPr/>
          <p:nvPr/>
        </p:nvSpPr>
        <p:spPr>
          <a:xfrm>
            <a:off x="7132320" y="2103120"/>
            <a:ext cx="4416552" cy="1572768"/>
          </a:xfrm>
          <a:prstGeom prst="roundRect">
            <a:avLst>
              <a:gd name="adj" fmla="val 6395"/>
            </a:avLst>
          </a:prstGeom>
          <a:solidFill>
            <a:srgbClr val="141824"/>
          </a:solidFill>
          <a:ln w="12700">
            <a:solidFill>
              <a:srgbClr val="272E3E"/>
            </a:solidFill>
            <a:prstDash val="solid"/>
          </a:ln>
        </p:spPr>
      </p:sp>
      <p:sp>
        <p:nvSpPr>
          <p:cNvPr id="42" name="Text 40"/>
          <p:cNvSpPr/>
          <p:nvPr/>
        </p:nvSpPr>
        <p:spPr>
          <a:xfrm>
            <a:off x="7498080" y="2377440"/>
            <a:ext cx="3685032" cy="32004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Build earns its place for one thing</a:t>
            </a:r>
            <a:endParaRPr lang="en-US" sz="1600" dirty="0"/>
          </a:p>
        </p:txBody>
      </p:sp>
      <p:sp>
        <p:nvSpPr>
          <p:cNvPr id="43" name="Text 41"/>
          <p:cNvSpPr/>
          <p:nvPr/>
        </p:nvSpPr>
        <p:spPr>
          <a:xfrm>
            <a:off x="7498080" y="2798064"/>
            <a:ext cx="3685032" cy="777240"/>
          </a:xfrm>
          <a:prstGeom prst="rect">
            <a:avLst/>
          </a:prstGeom>
          <a:noFill/>
          <a:ln/>
        </p:spPr>
        <p:txBody>
          <a:bodyPr wrap="square" lIns="0" tIns="0" rIns="0" bIns="0" rtlCol="0" anchor="t"/>
          <a:lstStyle/>
          <a:p>
            <a:pPr indent="0" marL="0">
              <a:lnSpc>
                <a:spcPct val="112000"/>
              </a:lnSpc>
              <a:buNone/>
            </a:pPr>
            <a:r>
              <a:rPr lang="en-US" sz="1350" dirty="0">
                <a:solidFill>
                  <a:srgbClr val="4ADE80"/>
                </a:solidFill>
                <a:latin typeface="Arial" pitchFamily="34" charset="0"/>
                <a:ea typeface="Arial" pitchFamily="34" charset="-122"/>
                <a:cs typeface="Arial" pitchFamily="34" charset="-120"/>
              </a:rPr>
              <a:t>A topology generated mid-run </a:t>
            </a:r>
            <a:pPr indent="0" marL="0">
              <a:lnSpc>
                <a:spcPct val="112000"/>
              </a:lnSpc>
              <a:buNone/>
            </a:pPr>
            <a:r>
              <a:rPr lang="en-US" sz="1350" b="1" dirty="0">
                <a:solidFill>
                  <a:srgbClr val="F4F6F8"/>
                </a:solidFill>
                <a:latin typeface="Arial" pitchFamily="34" charset="0"/>
                <a:ea typeface="Arial" pitchFamily="34" charset="-122"/>
                <a:cs typeface="Arial" pitchFamily="34" charset="-120"/>
              </a:rPr>
              <a:t>and</a:t>
            </a:r>
            <a:pPr indent="0" marL="0">
              <a:lnSpc>
                <a:spcPct val="112000"/>
              </a:lnSpc>
              <a:buNone/>
            </a:pPr>
            <a:r>
              <a:rPr lang="en-US" sz="1350" dirty="0">
                <a:solidFill>
                  <a:srgbClr val="9AA3B2"/>
                </a:solidFill>
                <a:latin typeface="Arial" pitchFamily="34" charset="0"/>
                <a:ea typeface="Arial" pitchFamily="34" charset="-122"/>
                <a:cs typeface="Arial" pitchFamily="34" charset="-120"/>
              </a:rPr>
              <a:t> recursive, resumable state where one unit of work spawns children. Either alone is off the shelf.</a:t>
            </a:r>
            <a:endParaRPr lang="en-US" sz="1350" dirty="0"/>
          </a:p>
        </p:txBody>
      </p:sp>
      <p:sp>
        <p:nvSpPr>
          <p:cNvPr id="44" name="Shape 42"/>
          <p:cNvSpPr/>
          <p:nvPr/>
        </p:nvSpPr>
        <p:spPr>
          <a:xfrm>
            <a:off x="7132320" y="3840480"/>
            <a:ext cx="4416552" cy="1572768"/>
          </a:xfrm>
          <a:prstGeom prst="roundRect">
            <a:avLst>
              <a:gd name="adj" fmla="val 6395"/>
            </a:avLst>
          </a:prstGeom>
          <a:solidFill>
            <a:srgbClr val="10131C"/>
          </a:solidFill>
          <a:ln w="12700">
            <a:solidFill>
              <a:srgbClr val="272E3E"/>
            </a:solidFill>
            <a:prstDash val="solid"/>
          </a:ln>
        </p:spPr>
      </p:sp>
      <p:sp>
        <p:nvSpPr>
          <p:cNvPr id="45" name="Text 43"/>
          <p:cNvSpPr/>
          <p:nvPr/>
        </p:nvSpPr>
        <p:spPr>
          <a:xfrm>
            <a:off x="7498080" y="4078224"/>
            <a:ext cx="3685032" cy="320040"/>
          </a:xfrm>
          <a:prstGeom prst="rect">
            <a:avLst/>
          </a:prstGeom>
          <a:noFill/>
          <a:ln/>
        </p:spPr>
        <p:txBody>
          <a:bodyPr wrap="square" lIns="0" tIns="0" rIns="0" bIns="0" rtlCol="0" anchor="ctr"/>
          <a:lstStyle/>
          <a:p>
            <a:pPr indent="0" marL="0">
              <a:buNone/>
            </a:pPr>
            <a:r>
              <a:rPr lang="en-US" sz="1600" b="1" dirty="0">
                <a:solidFill>
                  <a:srgbClr val="F5A623"/>
                </a:solidFill>
                <a:latin typeface="Arial" pitchFamily="34" charset="0"/>
                <a:ea typeface="Arial" pitchFamily="34" charset="-122"/>
                <a:cs typeface="Arial" pitchFamily="34" charset="-120"/>
              </a:rPr>
              <a:t>Assume adopt. Make build earn it.</a:t>
            </a:r>
            <a:endParaRPr lang="en-US" sz="1600" dirty="0"/>
          </a:p>
        </p:txBody>
      </p:sp>
      <p:sp>
        <p:nvSpPr>
          <p:cNvPr id="46" name="Text 44"/>
          <p:cNvSpPr/>
          <p:nvPr/>
        </p:nvSpPr>
        <p:spPr>
          <a:xfrm>
            <a:off x="7498080" y="4480560"/>
            <a:ext cx="3685032" cy="868680"/>
          </a:xfrm>
          <a:prstGeom prst="rect">
            <a:avLst/>
          </a:prstGeom>
          <a:noFill/>
          <a:ln/>
        </p:spPr>
        <p:txBody>
          <a:bodyPr wrap="square" lIns="0" tIns="0" rIns="0" bIns="0" rtlCol="0" anchor="t"/>
          <a:lstStyle/>
          <a:p>
            <a:pPr indent="0" marL="0">
              <a:lnSpc>
                <a:spcPct val="112000"/>
              </a:lnSpc>
              <a:buNone/>
            </a:pPr>
            <a:r>
              <a:rPr lang="en-US" sz="1300" dirty="0">
                <a:solidFill>
                  <a:srgbClr val="9AA3B2"/>
                </a:solidFill>
                <a:latin typeface="Arial" pitchFamily="34" charset="0"/>
                <a:ea typeface="Arial" pitchFamily="34" charset="-122"/>
                <a:cs typeface="Arial" pitchFamily="34" charset="-120"/>
              </a:rPr>
              <a:t>Every engine here is open source, documented, battle-tested. The knowledge is free — only the reinvention is expensive. The smallest honest answer is sometimes neither.</a:t>
            </a:r>
            <a:endParaRPr lang="en-US" sz="1300" dirty="0"/>
          </a:p>
        </p:txBody>
      </p:sp>
      <p:sp>
        <p:nvSpPr>
          <p:cNvPr id="47" name="Text 45"/>
          <p:cNvSpPr/>
          <p:nvPr/>
        </p:nvSpPr>
        <p:spPr>
          <a:xfrm>
            <a:off x="640080" y="5623560"/>
            <a:ext cx="10881360" cy="50292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Build cost was never the expensive part. </a:t>
            </a:r>
            <a:pPr indent="0" marL="0">
              <a:buNone/>
            </a:pPr>
            <a:r>
              <a:rPr lang="en-US" sz="1600" dirty="0">
                <a:solidFill>
                  <a:srgbClr val="9AA3B2"/>
                </a:solidFill>
                <a:latin typeface="Arial" pitchFamily="34" charset="0"/>
                <a:ea typeface="Arial" pitchFamily="34" charset="-122"/>
                <a:cs typeface="Arial" pitchFamily="34" charset="-120"/>
              </a:rPr>
              <a:t>AI writes the code. It doesn't carry the pager at 3am.</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C1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C10"/>
          </a:solidFill>
          <a:ln/>
        </p:spPr>
      </p:sp>
      <p:sp>
        <p:nvSpPr>
          <p:cNvPr id="3" name="Shape 1"/>
          <p:cNvSpPr/>
          <p:nvPr/>
        </p:nvSpPr>
        <p:spPr>
          <a:xfrm>
            <a:off x="1188720" y="0"/>
            <a:ext cx="0" cy="6858000"/>
          </a:xfrm>
          <a:prstGeom prst="line">
            <a:avLst/>
          </a:prstGeom>
          <a:noFill/>
          <a:ln w="9525">
            <a:solidFill>
              <a:srgbClr val="121622"/>
            </a:solidFill>
            <a:prstDash val="solid"/>
          </a:ln>
        </p:spPr>
      </p:sp>
      <p:sp>
        <p:nvSpPr>
          <p:cNvPr id="4" name="Shape 2"/>
          <p:cNvSpPr/>
          <p:nvPr/>
        </p:nvSpPr>
        <p:spPr>
          <a:xfrm>
            <a:off x="2304288" y="0"/>
            <a:ext cx="0" cy="6858000"/>
          </a:xfrm>
          <a:prstGeom prst="line">
            <a:avLst/>
          </a:prstGeom>
          <a:noFill/>
          <a:ln w="9525">
            <a:solidFill>
              <a:srgbClr val="121622"/>
            </a:solidFill>
            <a:prstDash val="solid"/>
          </a:ln>
        </p:spPr>
      </p:sp>
      <p:sp>
        <p:nvSpPr>
          <p:cNvPr id="5" name="Shape 3"/>
          <p:cNvSpPr/>
          <p:nvPr/>
        </p:nvSpPr>
        <p:spPr>
          <a:xfrm>
            <a:off x="3419856" y="0"/>
            <a:ext cx="0" cy="6858000"/>
          </a:xfrm>
          <a:prstGeom prst="line">
            <a:avLst/>
          </a:prstGeom>
          <a:noFill/>
          <a:ln w="9525">
            <a:solidFill>
              <a:srgbClr val="121622"/>
            </a:solidFill>
            <a:prstDash val="solid"/>
          </a:ln>
        </p:spPr>
      </p:sp>
      <p:sp>
        <p:nvSpPr>
          <p:cNvPr id="6" name="Shape 4"/>
          <p:cNvSpPr/>
          <p:nvPr/>
        </p:nvSpPr>
        <p:spPr>
          <a:xfrm>
            <a:off x="4535424" y="0"/>
            <a:ext cx="0" cy="6858000"/>
          </a:xfrm>
          <a:prstGeom prst="line">
            <a:avLst/>
          </a:prstGeom>
          <a:noFill/>
          <a:ln w="9525">
            <a:solidFill>
              <a:srgbClr val="121622"/>
            </a:solidFill>
            <a:prstDash val="solid"/>
          </a:ln>
        </p:spPr>
      </p:sp>
      <p:sp>
        <p:nvSpPr>
          <p:cNvPr id="7" name="Shape 5"/>
          <p:cNvSpPr/>
          <p:nvPr/>
        </p:nvSpPr>
        <p:spPr>
          <a:xfrm>
            <a:off x="5650992" y="0"/>
            <a:ext cx="0" cy="6858000"/>
          </a:xfrm>
          <a:prstGeom prst="line">
            <a:avLst/>
          </a:prstGeom>
          <a:noFill/>
          <a:ln w="9525">
            <a:solidFill>
              <a:srgbClr val="121622"/>
            </a:solidFill>
            <a:prstDash val="solid"/>
          </a:ln>
        </p:spPr>
      </p:sp>
      <p:sp>
        <p:nvSpPr>
          <p:cNvPr id="8" name="Shape 6"/>
          <p:cNvSpPr/>
          <p:nvPr/>
        </p:nvSpPr>
        <p:spPr>
          <a:xfrm>
            <a:off x="6766560" y="0"/>
            <a:ext cx="0" cy="6858000"/>
          </a:xfrm>
          <a:prstGeom prst="line">
            <a:avLst/>
          </a:prstGeom>
          <a:noFill/>
          <a:ln w="9525">
            <a:solidFill>
              <a:srgbClr val="121622"/>
            </a:solidFill>
            <a:prstDash val="solid"/>
          </a:ln>
        </p:spPr>
      </p:sp>
      <p:sp>
        <p:nvSpPr>
          <p:cNvPr id="9" name="Shape 7"/>
          <p:cNvSpPr/>
          <p:nvPr/>
        </p:nvSpPr>
        <p:spPr>
          <a:xfrm>
            <a:off x="7882128" y="0"/>
            <a:ext cx="0" cy="6858000"/>
          </a:xfrm>
          <a:prstGeom prst="line">
            <a:avLst/>
          </a:prstGeom>
          <a:noFill/>
          <a:ln w="9525">
            <a:solidFill>
              <a:srgbClr val="121622"/>
            </a:solidFill>
            <a:prstDash val="solid"/>
          </a:ln>
        </p:spPr>
      </p:sp>
      <p:sp>
        <p:nvSpPr>
          <p:cNvPr id="10" name="Shape 8"/>
          <p:cNvSpPr/>
          <p:nvPr/>
        </p:nvSpPr>
        <p:spPr>
          <a:xfrm>
            <a:off x="8997696" y="0"/>
            <a:ext cx="0" cy="6858000"/>
          </a:xfrm>
          <a:prstGeom prst="line">
            <a:avLst/>
          </a:prstGeom>
          <a:noFill/>
          <a:ln w="9525">
            <a:solidFill>
              <a:srgbClr val="121622"/>
            </a:solidFill>
            <a:prstDash val="solid"/>
          </a:ln>
        </p:spPr>
      </p:sp>
      <p:sp>
        <p:nvSpPr>
          <p:cNvPr id="11" name="Shape 9"/>
          <p:cNvSpPr/>
          <p:nvPr/>
        </p:nvSpPr>
        <p:spPr>
          <a:xfrm>
            <a:off x="10113264" y="0"/>
            <a:ext cx="0" cy="6858000"/>
          </a:xfrm>
          <a:prstGeom prst="line">
            <a:avLst/>
          </a:prstGeom>
          <a:noFill/>
          <a:ln w="9525">
            <a:solidFill>
              <a:srgbClr val="121622"/>
            </a:solidFill>
            <a:prstDash val="solid"/>
          </a:ln>
        </p:spPr>
      </p:sp>
      <p:sp>
        <p:nvSpPr>
          <p:cNvPr id="12" name="Shape 10"/>
          <p:cNvSpPr/>
          <p:nvPr/>
        </p:nvSpPr>
        <p:spPr>
          <a:xfrm>
            <a:off x="11228832" y="0"/>
            <a:ext cx="0" cy="6858000"/>
          </a:xfrm>
          <a:prstGeom prst="line">
            <a:avLst/>
          </a:prstGeom>
          <a:noFill/>
          <a:ln w="9525">
            <a:solidFill>
              <a:srgbClr val="121622"/>
            </a:solidFill>
            <a:prstDash val="solid"/>
          </a:ln>
        </p:spPr>
      </p:sp>
      <p:sp>
        <p:nvSpPr>
          <p:cNvPr id="13" name="Shape 11"/>
          <p:cNvSpPr/>
          <p:nvPr/>
        </p:nvSpPr>
        <p:spPr>
          <a:xfrm>
            <a:off x="0" y="822960"/>
            <a:ext cx="12188952" cy="0"/>
          </a:xfrm>
          <a:prstGeom prst="line">
            <a:avLst/>
          </a:prstGeom>
          <a:noFill/>
          <a:ln w="9525">
            <a:solidFill>
              <a:srgbClr val="121622"/>
            </a:solidFill>
            <a:prstDash val="solid"/>
          </a:ln>
        </p:spPr>
      </p:sp>
      <p:sp>
        <p:nvSpPr>
          <p:cNvPr id="14" name="Shape 12"/>
          <p:cNvSpPr/>
          <p:nvPr/>
        </p:nvSpPr>
        <p:spPr>
          <a:xfrm>
            <a:off x="0" y="1874520"/>
            <a:ext cx="12188952" cy="0"/>
          </a:xfrm>
          <a:prstGeom prst="line">
            <a:avLst/>
          </a:prstGeom>
          <a:noFill/>
          <a:ln w="9525">
            <a:solidFill>
              <a:srgbClr val="121622"/>
            </a:solidFill>
            <a:prstDash val="solid"/>
          </a:ln>
        </p:spPr>
      </p:sp>
      <p:sp>
        <p:nvSpPr>
          <p:cNvPr id="15" name="Shape 13"/>
          <p:cNvSpPr/>
          <p:nvPr/>
        </p:nvSpPr>
        <p:spPr>
          <a:xfrm>
            <a:off x="0" y="2926080"/>
            <a:ext cx="12188952" cy="0"/>
          </a:xfrm>
          <a:prstGeom prst="line">
            <a:avLst/>
          </a:prstGeom>
          <a:noFill/>
          <a:ln w="9525">
            <a:solidFill>
              <a:srgbClr val="121622"/>
            </a:solidFill>
            <a:prstDash val="solid"/>
          </a:ln>
        </p:spPr>
      </p:sp>
      <p:sp>
        <p:nvSpPr>
          <p:cNvPr id="16" name="Shape 14"/>
          <p:cNvSpPr/>
          <p:nvPr/>
        </p:nvSpPr>
        <p:spPr>
          <a:xfrm>
            <a:off x="0" y="3977640"/>
            <a:ext cx="12188952" cy="0"/>
          </a:xfrm>
          <a:prstGeom prst="line">
            <a:avLst/>
          </a:prstGeom>
          <a:noFill/>
          <a:ln w="9525">
            <a:solidFill>
              <a:srgbClr val="121622"/>
            </a:solidFill>
            <a:prstDash val="solid"/>
          </a:ln>
        </p:spPr>
      </p:sp>
      <p:sp>
        <p:nvSpPr>
          <p:cNvPr id="17" name="Shape 15"/>
          <p:cNvSpPr/>
          <p:nvPr/>
        </p:nvSpPr>
        <p:spPr>
          <a:xfrm>
            <a:off x="0" y="5029200"/>
            <a:ext cx="12188952" cy="0"/>
          </a:xfrm>
          <a:prstGeom prst="line">
            <a:avLst/>
          </a:prstGeom>
          <a:noFill/>
          <a:ln w="9525">
            <a:solidFill>
              <a:srgbClr val="121622"/>
            </a:solidFill>
            <a:prstDash val="solid"/>
          </a:ln>
        </p:spPr>
      </p:sp>
      <p:sp>
        <p:nvSpPr>
          <p:cNvPr id="18" name="Shape 16"/>
          <p:cNvSpPr/>
          <p:nvPr/>
        </p:nvSpPr>
        <p:spPr>
          <a:xfrm>
            <a:off x="0" y="6080760"/>
            <a:ext cx="12188952" cy="0"/>
          </a:xfrm>
          <a:prstGeom prst="line">
            <a:avLst/>
          </a:prstGeom>
          <a:noFill/>
          <a:ln w="9525">
            <a:solidFill>
              <a:srgbClr val="121622"/>
            </a:solidFill>
            <a:prstDash val="solid"/>
          </a:ln>
        </p:spPr>
      </p:sp>
      <p:sp>
        <p:nvSpPr>
          <p:cNvPr id="19" name="Text 17"/>
          <p:cNvSpPr/>
          <p:nvPr/>
        </p:nvSpPr>
        <p:spPr>
          <a:xfrm>
            <a:off x="640080" y="384048"/>
            <a:ext cx="8229600" cy="274320"/>
          </a:xfrm>
          <a:prstGeom prst="rect">
            <a:avLst/>
          </a:prstGeom>
          <a:noFill/>
          <a:ln/>
        </p:spPr>
        <p:txBody>
          <a:bodyPr wrap="square" lIns="0" tIns="0" rIns="0" bIns="0" rtlCol="0" anchor="ctr"/>
          <a:lstStyle/>
          <a:p>
            <a:pPr algn="l" indent="0" marL="0">
              <a:buNone/>
            </a:pPr>
            <a:r>
              <a:rPr lang="en-US" sz="1150" b="1" spc="300" kern="0" dirty="0">
                <a:solidFill>
                  <a:srgbClr val="59616F"/>
                </a:solidFill>
                <a:latin typeface="Courier New" pitchFamily="34" charset="0"/>
                <a:ea typeface="Courier New" pitchFamily="34" charset="-122"/>
                <a:cs typeface="Courier New" pitchFamily="34" charset="-120"/>
              </a:rPr>
              <a:t>10 — THE SHIFT</a:t>
            </a:r>
            <a:endParaRPr lang="en-US" sz="1150" dirty="0"/>
          </a:p>
        </p:txBody>
      </p:sp>
      <p:sp>
        <p:nvSpPr>
          <p:cNvPr id="20" name="Shape 18"/>
          <p:cNvSpPr/>
          <p:nvPr/>
        </p:nvSpPr>
        <p:spPr>
          <a:xfrm>
            <a:off x="640080" y="6327648"/>
            <a:ext cx="10908792" cy="0"/>
          </a:xfrm>
          <a:prstGeom prst="line">
            <a:avLst/>
          </a:prstGeom>
          <a:noFill/>
          <a:ln w="9525">
            <a:solidFill>
              <a:srgbClr val="1E2432"/>
            </a:solidFill>
            <a:prstDash val="solid"/>
          </a:ln>
        </p:spPr>
      </p:sp>
      <p:sp>
        <p:nvSpPr>
          <p:cNvPr id="21" name="Text 19"/>
          <p:cNvSpPr/>
          <p:nvPr/>
        </p:nvSpPr>
        <p:spPr>
          <a:xfrm>
            <a:off x="640080" y="6382512"/>
            <a:ext cx="4572000" cy="292608"/>
          </a:xfrm>
          <a:prstGeom prst="rect">
            <a:avLst/>
          </a:prstGeom>
          <a:noFill/>
          <a:ln/>
        </p:spPr>
        <p:txBody>
          <a:bodyPr wrap="square" lIns="0" tIns="0" rIns="0" bIns="0" rtlCol="0" anchor="ctr"/>
          <a:lstStyle/>
          <a:p>
            <a:pPr algn="l" indent="0" marL="0">
              <a:buNone/>
            </a:pPr>
            <a:r>
              <a:rPr lang="en-US" sz="1000" spc="100" kern="0" dirty="0">
                <a:solidFill>
                  <a:srgbClr val="6B7382"/>
                </a:solidFill>
                <a:latin typeface="Courier New" pitchFamily="34" charset="0"/>
                <a:ea typeface="Courier New" pitchFamily="34" charset="-122"/>
                <a:cs typeface="Courier New" pitchFamily="34" charset="-120"/>
              </a:rPr>
              <a:t>Hassaan Saleem</a:t>
            </a:r>
            <a:endParaRPr lang="en-US" sz="1000" dirty="0"/>
          </a:p>
        </p:txBody>
      </p:sp>
      <p:sp>
        <p:nvSpPr>
          <p:cNvPr id="22" name="Text 20"/>
          <p:cNvSpPr/>
          <p:nvPr/>
        </p:nvSpPr>
        <p:spPr>
          <a:xfrm>
            <a:off x="8805672" y="6382512"/>
            <a:ext cx="2743200" cy="292608"/>
          </a:xfrm>
          <a:prstGeom prst="rect">
            <a:avLst/>
          </a:prstGeom>
          <a:noFill/>
          <a:ln/>
        </p:spPr>
        <p:txBody>
          <a:bodyPr wrap="square" lIns="0" tIns="0" rIns="0" bIns="0" rtlCol="0" anchor="ctr"/>
          <a:lstStyle/>
          <a:p>
            <a:pPr algn="r" indent="0" marL="0">
              <a:buNone/>
            </a:pPr>
            <a:r>
              <a:rPr lang="en-US" sz="1000" spc="100" kern="0" dirty="0">
                <a:solidFill>
                  <a:srgbClr val="6B7382"/>
                </a:solidFill>
                <a:latin typeface="Courier New" pitchFamily="34" charset="0"/>
                <a:ea typeface="Courier New" pitchFamily="34" charset="-122"/>
                <a:cs typeface="Courier New" pitchFamily="34" charset="-120"/>
              </a:rPr>
              <a:t>11 / 11</a:t>
            </a:r>
            <a:endParaRPr lang="en-US" sz="1000" dirty="0"/>
          </a:p>
        </p:txBody>
      </p:sp>
      <p:sp>
        <p:nvSpPr>
          <p:cNvPr id="23" name="Text 21"/>
          <p:cNvSpPr/>
          <p:nvPr/>
        </p:nvSpPr>
        <p:spPr>
          <a:xfrm>
            <a:off x="640080" y="804672"/>
            <a:ext cx="10789920" cy="1143000"/>
          </a:xfrm>
          <a:prstGeom prst="rect">
            <a:avLst/>
          </a:prstGeom>
          <a:noFill/>
          <a:ln/>
        </p:spPr>
        <p:txBody>
          <a:bodyPr wrap="square" lIns="0" tIns="0" rIns="0" bIns="0" rtlCol="0" anchor="ctr"/>
          <a:lstStyle/>
          <a:p>
            <a:pPr indent="0" marL="0">
              <a:lnSpc>
                <a:spcPct val="100000"/>
              </a:lnSpc>
              <a:buNone/>
            </a:pPr>
            <a:r>
              <a:rPr lang="en-US" sz="3400" b="1" dirty="0">
                <a:solidFill>
                  <a:srgbClr val="F4F6F8"/>
                </a:solidFill>
                <a:latin typeface="Arial" pitchFamily="34" charset="0"/>
                <a:ea typeface="Arial" pitchFamily="34" charset="-122"/>
                <a:cs typeface="Arial" pitchFamily="34" charset="-120"/>
              </a:rPr>
              <a:t>From technical depth</a:t>
            </a:r>
            <a:endParaRPr lang="en-US" sz="3400" dirty="0"/>
          </a:p>
          <a:p>
            <a:pPr indent="0" marL="0">
              <a:lnSpc>
                <a:spcPct val="100000"/>
              </a:lnSpc>
              <a:buNone/>
            </a:pPr>
            <a:r>
              <a:rPr lang="en-US" sz="3400" b="1" dirty="0">
                <a:solidFill>
                  <a:srgbClr val="F4F6F8"/>
                </a:solidFill>
                <a:latin typeface="Arial" pitchFamily="34" charset="0"/>
                <a:ea typeface="Arial" pitchFamily="34" charset="-122"/>
                <a:cs typeface="Arial" pitchFamily="34" charset="-120"/>
              </a:rPr>
              <a:t>to cognitive depth.</a:t>
            </a:r>
            <a:endParaRPr lang="en-US" sz="3400" dirty="0"/>
          </a:p>
        </p:txBody>
      </p:sp>
      <p:sp>
        <p:nvSpPr>
          <p:cNvPr id="24" name="Shape 22"/>
          <p:cNvSpPr/>
          <p:nvPr/>
        </p:nvSpPr>
        <p:spPr>
          <a:xfrm>
            <a:off x="640080" y="2286000"/>
            <a:ext cx="5271516" cy="2880360"/>
          </a:xfrm>
          <a:prstGeom prst="roundRect">
            <a:avLst>
              <a:gd name="adj" fmla="val 3492"/>
            </a:avLst>
          </a:prstGeom>
          <a:solidFill>
            <a:srgbClr val="141824"/>
          </a:solidFill>
          <a:ln w="12700">
            <a:solidFill>
              <a:srgbClr val="272E3E"/>
            </a:solidFill>
            <a:prstDash val="solid"/>
          </a:ln>
        </p:spPr>
      </p:sp>
      <p:sp>
        <p:nvSpPr>
          <p:cNvPr id="25" name="Text 23"/>
          <p:cNvSpPr/>
          <p:nvPr/>
        </p:nvSpPr>
        <p:spPr>
          <a:xfrm>
            <a:off x="1005840" y="2606040"/>
            <a:ext cx="4539996" cy="274320"/>
          </a:xfrm>
          <a:prstGeom prst="rect">
            <a:avLst/>
          </a:prstGeom>
          <a:noFill/>
          <a:ln/>
        </p:spPr>
        <p:txBody>
          <a:bodyPr wrap="square" lIns="0" tIns="0" rIns="0" bIns="0" rtlCol="0" anchor="ctr"/>
          <a:lstStyle/>
          <a:p>
            <a:pPr indent="0" marL="0">
              <a:buNone/>
            </a:pPr>
            <a:r>
              <a:rPr lang="en-US" sz="1200" b="1" spc="200" kern="0" dirty="0">
                <a:solidFill>
                  <a:srgbClr val="6B7382"/>
                </a:solidFill>
                <a:latin typeface="Courier New" pitchFamily="34" charset="0"/>
                <a:ea typeface="Courier New" pitchFamily="34" charset="-122"/>
                <a:cs typeface="Courier New" pitchFamily="34" charset="-120"/>
              </a:rPr>
              <a:t>TECHNICAL DEPTH</a:t>
            </a:r>
            <a:endParaRPr lang="en-US" sz="1200" dirty="0"/>
          </a:p>
        </p:txBody>
      </p:sp>
      <p:sp>
        <p:nvSpPr>
          <p:cNvPr id="26" name="Text 24"/>
          <p:cNvSpPr/>
          <p:nvPr/>
        </p:nvSpPr>
        <p:spPr>
          <a:xfrm>
            <a:off x="1005840" y="2944368"/>
            <a:ext cx="4539996" cy="548640"/>
          </a:xfrm>
          <a:prstGeom prst="rect">
            <a:avLst/>
          </a:prstGeom>
          <a:noFill/>
          <a:ln/>
        </p:spPr>
        <p:txBody>
          <a:bodyPr wrap="square" lIns="0" tIns="0" rIns="0" bIns="0" rtlCol="0" anchor="ctr"/>
          <a:lstStyle/>
          <a:p>
            <a:pPr indent="0" marL="0">
              <a:buNone/>
            </a:pPr>
            <a:r>
              <a:rPr lang="en-US" sz="2600" b="1" dirty="0">
                <a:solidFill>
                  <a:srgbClr val="F4F6F8"/>
                </a:solidFill>
                <a:latin typeface="Arial" pitchFamily="34" charset="0"/>
                <a:ea typeface="Arial" pitchFamily="34" charset="-122"/>
                <a:cs typeface="Arial" pitchFamily="34" charset="-120"/>
              </a:rPr>
              <a:t>Mastery of </a:t>
            </a:r>
            <a:pPr indent="0" marL="0">
              <a:buNone/>
            </a:pPr>
            <a:r>
              <a:rPr lang="en-US" sz="2600" b="1" dirty="0">
                <a:solidFill>
                  <a:srgbClr val="2DD4BF"/>
                </a:solidFill>
                <a:latin typeface="Arial" pitchFamily="34" charset="0"/>
                <a:ea typeface="Arial" pitchFamily="34" charset="-122"/>
                <a:cs typeface="Arial" pitchFamily="34" charset="-120"/>
              </a:rPr>
              <a:t>how.</a:t>
            </a:r>
            <a:endParaRPr lang="en-US" sz="2600" dirty="0"/>
          </a:p>
        </p:txBody>
      </p:sp>
      <p:sp>
        <p:nvSpPr>
          <p:cNvPr id="27" name="Text 25"/>
          <p:cNvSpPr/>
          <p:nvPr/>
        </p:nvSpPr>
        <p:spPr>
          <a:xfrm>
            <a:off x="1005840" y="3611880"/>
            <a:ext cx="4539996" cy="1005840"/>
          </a:xfrm>
          <a:prstGeom prst="rect">
            <a:avLst/>
          </a:prstGeom>
          <a:noFill/>
          <a:ln/>
        </p:spPr>
        <p:txBody>
          <a:bodyPr wrap="square" lIns="0" tIns="0" rIns="0" bIns="0" rtlCol="0" anchor="t"/>
          <a:lstStyle/>
          <a:p>
            <a:pPr indent="0" marL="0">
              <a:lnSpc>
                <a:spcPct val="115000"/>
              </a:lnSpc>
              <a:buNone/>
            </a:pPr>
            <a:r>
              <a:rPr lang="en-US" sz="1500" dirty="0">
                <a:solidFill>
                  <a:srgbClr val="9AA3B2"/>
                </a:solidFill>
                <a:latin typeface="Arial" pitchFamily="34" charset="0"/>
                <a:ea typeface="Arial" pitchFamily="34" charset="-122"/>
                <a:cs typeface="Arial" pitchFamily="34" charset="-120"/>
              </a:rPr>
              <a:t>Can you build the machine? Implementation, algorithms, the craft of construction. For decades, the whole game.</a:t>
            </a:r>
            <a:endParaRPr lang="en-US" sz="1500" dirty="0"/>
          </a:p>
        </p:txBody>
      </p:sp>
      <p:sp>
        <p:nvSpPr>
          <p:cNvPr id="28" name="Text 26"/>
          <p:cNvSpPr/>
          <p:nvPr/>
        </p:nvSpPr>
        <p:spPr>
          <a:xfrm>
            <a:off x="1005840" y="4617720"/>
            <a:ext cx="4539996" cy="320040"/>
          </a:xfrm>
          <a:prstGeom prst="rect">
            <a:avLst/>
          </a:prstGeom>
          <a:noFill/>
          <a:ln/>
        </p:spPr>
        <p:txBody>
          <a:bodyPr wrap="square" lIns="0" tIns="0" rIns="0" bIns="0" rtlCol="0" anchor="ctr"/>
          <a:lstStyle/>
          <a:p>
            <a:pPr indent="0" marL="0">
              <a:buNone/>
            </a:pPr>
            <a:r>
              <a:rPr lang="en-US" sz="1300" b="1" dirty="0">
                <a:solidFill>
                  <a:srgbClr val="6B7382"/>
                </a:solidFill>
                <a:latin typeface="Courier New" pitchFamily="34" charset="0"/>
                <a:ea typeface="Courier New" pitchFamily="34" charset="-122"/>
                <a:cs typeface="Courier New" pitchFamily="34" charset="-120"/>
              </a:rPr>
              <a:t>AI made this cheap.</a:t>
            </a:r>
            <a:endParaRPr lang="en-US" sz="1300" dirty="0"/>
          </a:p>
        </p:txBody>
      </p:sp>
      <p:sp>
        <p:nvSpPr>
          <p:cNvPr id="29" name="Shape 27"/>
          <p:cNvSpPr/>
          <p:nvPr/>
        </p:nvSpPr>
        <p:spPr>
          <a:xfrm>
            <a:off x="6277356" y="2286000"/>
            <a:ext cx="5271516" cy="2880360"/>
          </a:xfrm>
          <a:prstGeom prst="roundRect">
            <a:avLst>
              <a:gd name="adj" fmla="val 3492"/>
            </a:avLst>
          </a:prstGeom>
          <a:solidFill>
            <a:srgbClr val="141824"/>
          </a:solidFill>
          <a:ln w="12700">
            <a:solidFill>
              <a:srgbClr val="3A3320"/>
            </a:solidFill>
            <a:prstDash val="solid"/>
          </a:ln>
        </p:spPr>
      </p:sp>
      <p:sp>
        <p:nvSpPr>
          <p:cNvPr id="30" name="Text 28"/>
          <p:cNvSpPr/>
          <p:nvPr/>
        </p:nvSpPr>
        <p:spPr>
          <a:xfrm>
            <a:off x="6643116" y="2606040"/>
            <a:ext cx="4539996" cy="274320"/>
          </a:xfrm>
          <a:prstGeom prst="rect">
            <a:avLst/>
          </a:prstGeom>
          <a:noFill/>
          <a:ln/>
        </p:spPr>
        <p:txBody>
          <a:bodyPr wrap="square" lIns="0" tIns="0" rIns="0" bIns="0" rtlCol="0" anchor="ctr"/>
          <a:lstStyle/>
          <a:p>
            <a:pPr indent="0" marL="0">
              <a:buNone/>
            </a:pPr>
            <a:r>
              <a:rPr lang="en-US" sz="1200" b="1" spc="200" kern="0" dirty="0">
                <a:solidFill>
                  <a:srgbClr val="F5A623"/>
                </a:solidFill>
                <a:latin typeface="Courier New" pitchFamily="34" charset="0"/>
                <a:ea typeface="Courier New" pitchFamily="34" charset="-122"/>
                <a:cs typeface="Courier New" pitchFamily="34" charset="-120"/>
              </a:rPr>
              <a:t>COGNITIVE DEPTH</a:t>
            </a:r>
            <a:endParaRPr lang="en-US" sz="1200" dirty="0"/>
          </a:p>
        </p:txBody>
      </p:sp>
      <p:sp>
        <p:nvSpPr>
          <p:cNvPr id="31" name="Text 29"/>
          <p:cNvSpPr/>
          <p:nvPr/>
        </p:nvSpPr>
        <p:spPr>
          <a:xfrm>
            <a:off x="6643116" y="2944368"/>
            <a:ext cx="4539996" cy="548640"/>
          </a:xfrm>
          <a:prstGeom prst="rect">
            <a:avLst/>
          </a:prstGeom>
          <a:noFill/>
          <a:ln/>
        </p:spPr>
        <p:txBody>
          <a:bodyPr wrap="square" lIns="0" tIns="0" rIns="0" bIns="0" rtlCol="0" anchor="ctr"/>
          <a:lstStyle/>
          <a:p>
            <a:pPr indent="0" marL="0">
              <a:buNone/>
            </a:pPr>
            <a:r>
              <a:rPr lang="en-US" sz="2600" b="1" dirty="0">
                <a:solidFill>
                  <a:srgbClr val="F4F6F8"/>
                </a:solidFill>
                <a:latin typeface="Arial" pitchFamily="34" charset="0"/>
                <a:ea typeface="Arial" pitchFamily="34" charset="-122"/>
                <a:cs typeface="Arial" pitchFamily="34" charset="-120"/>
              </a:rPr>
              <a:t>Depth of </a:t>
            </a:r>
            <a:pPr indent="0" marL="0">
              <a:buNone/>
            </a:pPr>
            <a:r>
              <a:rPr lang="en-US" sz="2600" b="1" dirty="0">
                <a:solidFill>
                  <a:srgbClr val="F5A623"/>
                </a:solidFill>
                <a:latin typeface="Arial" pitchFamily="34" charset="0"/>
                <a:ea typeface="Arial" pitchFamily="34" charset="-122"/>
                <a:cs typeface="Arial" pitchFamily="34" charset="-120"/>
              </a:rPr>
              <a:t>processing.</a:t>
            </a:r>
            <a:endParaRPr lang="en-US" sz="2600" dirty="0"/>
          </a:p>
        </p:txBody>
      </p:sp>
      <p:sp>
        <p:nvSpPr>
          <p:cNvPr id="32" name="Text 30"/>
          <p:cNvSpPr/>
          <p:nvPr/>
        </p:nvSpPr>
        <p:spPr>
          <a:xfrm>
            <a:off x="6643116" y="3611880"/>
            <a:ext cx="4539996" cy="1234440"/>
          </a:xfrm>
          <a:prstGeom prst="rect">
            <a:avLst/>
          </a:prstGeom>
          <a:noFill/>
          <a:ln/>
        </p:spPr>
        <p:txBody>
          <a:bodyPr wrap="square" lIns="0" tIns="0" rIns="0" bIns="0" rtlCol="0" anchor="t"/>
          <a:lstStyle/>
          <a:p>
            <a:pPr indent="0" marL="0">
              <a:lnSpc>
                <a:spcPct val="115000"/>
              </a:lnSpc>
              <a:buNone/>
            </a:pPr>
            <a:r>
              <a:rPr lang="en-US" sz="1500" dirty="0">
                <a:solidFill>
                  <a:srgbClr val="9AA3B2"/>
                </a:solidFill>
                <a:latin typeface="Arial" pitchFamily="34" charset="0"/>
                <a:ea typeface="Arial" pitchFamily="34" charset="-122"/>
                <a:cs typeface="Arial" pitchFamily="34" charset="-120"/>
              </a:rPr>
              <a:t>Critical analysis, conceptual mapping, synthesis — holding multi-layered information long enough to see its real structure, instead of scanning the surface for the first plausible answer.</a:t>
            </a:r>
            <a:endParaRPr lang="en-US" sz="1500" dirty="0"/>
          </a:p>
        </p:txBody>
      </p:sp>
      <p:sp>
        <p:nvSpPr>
          <p:cNvPr id="33" name="Text 31"/>
          <p:cNvSpPr/>
          <p:nvPr/>
        </p:nvSpPr>
        <p:spPr>
          <a:xfrm>
            <a:off x="6643116" y="4617720"/>
            <a:ext cx="4539996" cy="320040"/>
          </a:xfrm>
          <a:prstGeom prst="rect">
            <a:avLst/>
          </a:prstGeom>
          <a:noFill/>
          <a:ln/>
        </p:spPr>
        <p:txBody>
          <a:bodyPr wrap="square" lIns="0" tIns="0" rIns="0" bIns="0" rtlCol="0" anchor="ctr"/>
          <a:lstStyle/>
          <a:p>
            <a:pPr indent="0" marL="0">
              <a:buNone/>
            </a:pPr>
            <a:r>
              <a:rPr lang="en-US" sz="1300" b="1" dirty="0">
                <a:solidFill>
                  <a:srgbClr val="F5A623"/>
                </a:solidFill>
                <a:latin typeface="Courier New" pitchFamily="34" charset="0"/>
                <a:ea typeface="Courier New" pitchFamily="34" charset="-122"/>
                <a:cs typeface="Courier New" pitchFamily="34" charset="-120"/>
              </a:rPr>
              <a:t>Effortful. Not outsourceable.</a:t>
            </a:r>
            <a:endParaRPr lang="en-US" sz="1300" dirty="0"/>
          </a:p>
        </p:txBody>
      </p:sp>
      <p:sp>
        <p:nvSpPr>
          <p:cNvPr id="34" name="Text 32"/>
          <p:cNvSpPr/>
          <p:nvPr/>
        </p:nvSpPr>
        <p:spPr>
          <a:xfrm>
            <a:off x="640080" y="5504688"/>
            <a:ext cx="10881360" cy="54864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AI hands you the surface answer instantly. </a:t>
            </a:r>
            <a:pPr indent="0" marL="0">
              <a:buNone/>
            </a:pPr>
            <a:r>
              <a:rPr lang="en-US" sz="1600" dirty="0">
                <a:solidFill>
                  <a:srgbClr val="9AA3B2"/>
                </a:solidFill>
                <a:latin typeface="Arial" pitchFamily="34" charset="0"/>
                <a:ea typeface="Arial" pitchFamily="34" charset="-122"/>
                <a:cs typeface="Arial" pitchFamily="34" charset="-120"/>
              </a:rPr>
              <a:t>The structure underneath it still has to be thought through.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Workflows &amp; Orchestrators in an AI World</dc:title>
  <dc:subject>PptxGenJS Presentation</dc:subject>
  <dc:creator>Hassaan Saleem</dc:creator>
  <cp:lastModifiedBy>Hassaan Saleem</cp:lastModifiedBy>
  <cp:revision>1</cp:revision>
  <dcterms:created xsi:type="dcterms:W3CDTF">2026-08-11T18:11:16Z</dcterms:created>
  <dcterms:modified xsi:type="dcterms:W3CDTF">2026-08-11T18:11:16Z</dcterms:modified>
</cp:coreProperties>
</file>